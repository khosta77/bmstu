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427" r:id="rId2"/>
    <p:sldId id="491" r:id="rId3"/>
    <p:sldId id="492" r:id="rId4"/>
    <p:sldId id="493" r:id="rId5"/>
    <p:sldId id="494" r:id="rId6"/>
    <p:sldId id="495" r:id="rId7"/>
    <p:sldId id="496" r:id="rId8"/>
    <p:sldId id="497" r:id="rId9"/>
    <p:sldId id="502" r:id="rId10"/>
    <p:sldId id="498" r:id="rId11"/>
    <p:sldId id="503" r:id="rId12"/>
    <p:sldId id="504" r:id="rId13"/>
    <p:sldId id="505" r:id="rId14"/>
    <p:sldId id="506" r:id="rId15"/>
    <p:sldId id="507" r:id="rId16"/>
    <p:sldId id="509" r:id="rId17"/>
    <p:sldId id="510" r:id="rId18"/>
    <p:sldId id="512" r:id="rId19"/>
    <p:sldId id="478" r:id="rId20"/>
    <p:sldId id="479" r:id="rId21"/>
    <p:sldId id="511" r:id="rId22"/>
    <p:sldId id="480" r:id="rId23"/>
    <p:sldId id="481" r:id="rId24"/>
    <p:sldId id="482" r:id="rId25"/>
    <p:sldId id="483" r:id="rId26"/>
    <p:sldId id="473" r:id="rId27"/>
    <p:sldId id="484" r:id="rId28"/>
    <p:sldId id="514" r:id="rId29"/>
    <p:sldId id="485" r:id="rId30"/>
    <p:sldId id="515" r:id="rId31"/>
    <p:sldId id="516" r:id="rId32"/>
    <p:sldId id="518" r:id="rId33"/>
    <p:sldId id="489" r:id="rId34"/>
    <p:sldId id="513" r:id="rId35"/>
    <p:sldId id="443" r:id="rId36"/>
    <p:sldId id="453" r:id="rId37"/>
    <p:sldId id="454" r:id="rId38"/>
    <p:sldId id="455" r:id="rId39"/>
    <p:sldId id="445" r:id="rId40"/>
    <p:sldId id="456" r:id="rId41"/>
    <p:sldId id="385" r:id="rId42"/>
    <p:sldId id="457" r:id="rId43"/>
    <p:sldId id="467" r:id="rId44"/>
    <p:sldId id="470" r:id="rId45"/>
    <p:sldId id="471" r:id="rId46"/>
    <p:sldId id="501" r:id="rId47"/>
    <p:sldId id="519" r:id="rId48"/>
    <p:sldId id="520" r:id="rId49"/>
    <p:sldId id="521" r:id="rId5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24" autoAdjust="0"/>
  </p:normalViewPr>
  <p:slideViewPr>
    <p:cSldViewPr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26AD8-2A49-47E9-AE8B-8208AED68C63}" type="datetimeFigureOut">
              <a:rPr lang="ru-RU" smtClean="0"/>
              <a:t>15.12.2024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DD59D-02D8-4883-A27D-BCD539086F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6710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504495D-5B41-4474-BF2E-852C00FDE77F}" type="datetimeFigureOut">
              <a:rPr lang="ru-RU"/>
              <a:pPr>
                <a:defRPr/>
              </a:pPr>
              <a:t>15.12.2024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2CAF298-6FA7-4965-AF51-1DF64DB20FC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709263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2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155620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3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dirty="0" smtClean="0"/>
          </a:p>
        </p:txBody>
      </p:sp>
    </p:spTree>
    <p:extLst>
      <p:ext uri="{BB962C8B-B14F-4D97-AF65-F5344CB8AC3E}">
        <p14:creationId xmlns:p14="http://schemas.microsoft.com/office/powerpoint/2010/main" val="46350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4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819602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5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400417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6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688848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7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75923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8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2923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9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625643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10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4116818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11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410343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12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1512422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13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3354255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C14A76-BDE2-4250-8100-0336AC34FE23}" type="slidenum">
              <a:rPr lang="ru-RU" altLang="ru-RU" smtClean="0"/>
              <a:pPr/>
              <a:t>14</a:t>
            </a:fld>
            <a:endParaRPr lang="ru-RU" altLang="ru-R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 smtClean="0"/>
          </a:p>
        </p:txBody>
      </p:sp>
    </p:spTree>
    <p:extLst>
      <p:ext uri="{BB962C8B-B14F-4D97-AF65-F5344CB8AC3E}">
        <p14:creationId xmlns:p14="http://schemas.microsoft.com/office/powerpoint/2010/main" val="2447846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648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963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499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233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102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199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6677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9071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73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27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808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28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7764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1427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4310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059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56262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CAF298-6FA7-4965-AF51-1DF64DB20FCA}" type="slidenum">
              <a:rPr lang="ru-RU" smtClean="0"/>
              <a:pPr>
                <a:defRPr/>
              </a:pPr>
              <a:t>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714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D3E21-EE21-4508-ABDF-BF0146A38F09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A72FF-D543-4579-8563-52A3DA76BF9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188DA-2C35-4874-8F51-5C2936CACA87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F847E-8C0E-4157-8535-0DF9A51F701E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60231-5CEF-499F-A161-253349F2500F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791D1-BD3D-4FAB-B557-C18D8FF2BBC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8551D-0E9C-4DA9-BE10-D72DC0DE28F1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9242E-4960-4079-9D80-F97AC2122BE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E8759-2E57-4D63-861F-D355159CFCD7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6D0B4-C2E8-4A00-8ECB-BC7679DD6CB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D5765-2329-423B-B8FF-D06EBB808475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372C0-AD72-4BE9-B7A8-748F988D898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AC327-0EE6-44A1-BD69-6CE41C7BF88F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01DA1-5D18-49B0-8DAC-F200A1AFAE3F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263E5-6004-4F8C-B675-DCE950115372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60C9C-08C2-490E-9FE6-3D1CCBAFA6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51031-CF84-4DE2-B450-CA17D6D515A3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CEE44-7110-404D-8AAF-8991D07541F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95642-2A42-4F7B-A47C-EEEF846700C2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65AB0-14A8-4B92-B5C9-6934B1415AD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A985A-8FF1-4C97-AA93-D9F4093D2739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8B043-B9E8-44F8-B7A4-3128F1EBC3F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E74B67-9B8F-44F8-8B22-76C858847F6F}" type="datetime1">
              <a:rPr lang="ru-RU" smtClean="0"/>
              <a:t>15.12.2024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E05BF4-9578-46C7-AC5F-EF3C5588EEB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base.garant.ru/180422/#ixzz5Yusg0lWq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96752"/>
            <a:ext cx="8064896" cy="3960440"/>
          </a:xfrm>
        </p:spPr>
        <p:txBody>
          <a:bodyPr/>
          <a:lstStyle/>
          <a:p>
            <a:pPr algn="ctr"/>
            <a:r>
              <a:rPr lang="ru-RU" sz="4400" cap="none" dirty="0" smtClean="0">
                <a:solidFill>
                  <a:srgbClr val="002060"/>
                </a:solidFill>
              </a:rPr>
              <a:t/>
            </a:r>
            <a:br>
              <a:rPr lang="ru-RU" sz="4400" cap="none" dirty="0" smtClean="0">
                <a:solidFill>
                  <a:srgbClr val="002060"/>
                </a:solidFill>
              </a:rPr>
            </a:br>
            <a:r>
              <a:rPr lang="ru-RU" sz="3600" cap="none" dirty="0" smtClean="0">
                <a:solidFill>
                  <a:srgbClr val="C00000"/>
                </a:solidFill>
              </a:rPr>
              <a:t>Организация и планирование производства</a:t>
            </a:r>
            <a:br>
              <a:rPr lang="ru-RU" sz="3600" cap="none" dirty="0" smtClean="0">
                <a:solidFill>
                  <a:srgbClr val="C00000"/>
                </a:solidFill>
              </a:rPr>
            </a:br>
            <a:r>
              <a:rPr lang="ru-RU" sz="3600" cap="none" dirty="0" smtClean="0">
                <a:solidFill>
                  <a:srgbClr val="C00000"/>
                </a:solidFill>
              </a:rPr>
              <a:t/>
            </a:r>
            <a:br>
              <a:rPr lang="ru-RU" sz="3600" cap="none" dirty="0" smtClean="0">
                <a:solidFill>
                  <a:srgbClr val="C00000"/>
                </a:solidFill>
              </a:rPr>
            </a:br>
            <a:endParaRPr lang="ru-RU" sz="3600" cap="none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6791D1-BD3D-4FAB-B557-C18D8FF2BBC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684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Рабочая программа для ф-та РЛ</a:t>
            </a:r>
            <a:r>
              <a:rPr lang="ru-RU" altLang="ru-RU" sz="4000" dirty="0" smtClean="0">
                <a:solidFill>
                  <a:srgbClr val="A50021"/>
                </a:solidFill>
              </a:rPr>
              <a:t/>
            </a:r>
            <a:br>
              <a:rPr lang="ru-RU" altLang="ru-RU" sz="4000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8" name="Rectangle 1"/>
          <p:cNvSpPr>
            <a:spLocks noChangeArrowheads="1"/>
          </p:cNvSpPr>
          <p:nvPr/>
        </p:nvSpPr>
        <p:spPr bwMode="auto">
          <a:xfrm>
            <a:off x="1476375" y="1608138"/>
            <a:ext cx="648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614760"/>
              </p:ext>
            </p:extLst>
          </p:nvPr>
        </p:nvGraphicFramePr>
        <p:xfrm>
          <a:off x="378682" y="1517840"/>
          <a:ext cx="8496174" cy="46150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10815">
                  <a:extLst>
                    <a:ext uri="{9D8B030D-6E8A-4147-A177-3AD203B41FA5}">
                      <a16:colId xmlns:a16="http://schemas.microsoft.com/office/drawing/2014/main" val="531362796"/>
                    </a:ext>
                  </a:extLst>
                </a:gridCol>
                <a:gridCol w="2685359">
                  <a:extLst>
                    <a:ext uri="{9D8B030D-6E8A-4147-A177-3AD203B41FA5}">
                      <a16:colId xmlns:a16="http://schemas.microsoft.com/office/drawing/2014/main" val="1364765295"/>
                    </a:ext>
                  </a:extLst>
                </a:gridCol>
              </a:tblGrid>
              <a:tr h="398992">
                <a:tc>
                  <a:txBody>
                    <a:bodyPr/>
                    <a:lstStyle/>
                    <a:p>
                      <a:pPr indent="540385"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Виды учебной работы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13030" algn="just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Норм. Время, час</a:t>
                      </a:r>
                      <a:r>
                        <a:rPr lang="ru-RU" sz="200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4243"/>
                  </a:ext>
                </a:extLst>
              </a:tr>
              <a:tr h="33985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Объем дисциплины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540385"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Всего 108</a:t>
                      </a:r>
                      <a:endParaRPr lang="ru-RU" sz="20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660841"/>
                  </a:ext>
                </a:extLst>
              </a:tr>
              <a:tr h="3628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Лекции (Л)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17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960018"/>
                  </a:ext>
                </a:extLst>
              </a:tr>
              <a:tr h="3628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Семинары (С)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34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324539"/>
                  </a:ext>
                </a:extLst>
              </a:tr>
              <a:tr h="3628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Самостоятельная работа обучающих 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57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744882"/>
                  </a:ext>
                </a:extLst>
              </a:tr>
              <a:tr h="3628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Проработка учебного материала лекций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186349"/>
                  </a:ext>
                </a:extLst>
              </a:tr>
              <a:tr h="3628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Подготовка к семинарам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946252"/>
                  </a:ext>
                </a:extLst>
              </a:tr>
              <a:tr h="67971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Подготовка к рубежному контролю, контрольной работе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00049"/>
                  </a:ext>
                </a:extLst>
              </a:tr>
              <a:tr h="3628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Выполнение домашнего задания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739445"/>
                  </a:ext>
                </a:extLst>
              </a:tr>
              <a:tr h="10195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Другие виды самостоятельной работы (проработка учебно-методической литературы)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2060"/>
                          </a:solidFill>
                          <a:effectLst/>
                        </a:rPr>
                        <a:t>28</a:t>
                      </a:r>
                      <a:endParaRPr lang="ru-RU" sz="20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724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40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468313" y="1160238"/>
            <a:ext cx="8496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b="1" dirty="0">
                <a:solidFill>
                  <a:srgbClr val="C00000"/>
                </a:solidFill>
                <a:latin typeface="+mn-lt"/>
                <a:ea typeface="Times New Roman" panose="02020603050405020304" pitchFamily="18" charset="0"/>
              </a:rPr>
              <a:t>Модуль 1 – </a:t>
            </a:r>
            <a:r>
              <a:rPr lang="ru-RU" sz="2400" b="1" dirty="0" smtClean="0">
                <a:solidFill>
                  <a:srgbClr val="C00000"/>
                </a:solidFill>
                <a:latin typeface="+mn-lt"/>
                <a:ea typeface="Times New Roman" panose="02020603050405020304" pitchFamily="18" charset="0"/>
              </a:rPr>
              <a:t>Инновации</a:t>
            </a:r>
            <a:endParaRPr lang="ru-RU" sz="2400" dirty="0">
              <a:solidFill>
                <a:srgbClr val="C00000"/>
              </a:solidFill>
              <a:latin typeface="+mn-lt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400" b="1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 </a:t>
            </a:r>
            <a:r>
              <a:rPr lang="ru-RU" sz="2400" b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01</a:t>
            </a:r>
            <a:r>
              <a:rPr lang="ru-RU" sz="2400" b="1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– Содержание и этапы инновационного процесса </a:t>
            </a:r>
            <a:endParaRPr lang="ru-RU" sz="2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pic>
        <p:nvPicPr>
          <p:cNvPr id="12" name="Рисунок 11" descr="http://konspekta.net/lektsiiorgimg/baza3/4005108138279.files/image638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0" y="2226071"/>
            <a:ext cx="8280920" cy="42510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264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468313" y="1160238"/>
            <a:ext cx="8496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b="1" dirty="0">
                <a:solidFill>
                  <a:srgbClr val="C00000"/>
                </a:solidFill>
                <a:latin typeface="+mn-lt"/>
                <a:ea typeface="Times New Roman" panose="02020603050405020304" pitchFamily="18" charset="0"/>
              </a:rPr>
              <a:t>Модуль 1 – </a:t>
            </a:r>
            <a:r>
              <a:rPr lang="ru-RU" sz="2400" b="1" dirty="0" smtClean="0">
                <a:solidFill>
                  <a:srgbClr val="C00000"/>
                </a:solidFill>
                <a:latin typeface="+mn-lt"/>
                <a:ea typeface="Times New Roman" panose="02020603050405020304" pitchFamily="18" charset="0"/>
              </a:rPr>
              <a:t>Инновации</a:t>
            </a:r>
            <a:endParaRPr lang="ru-RU" sz="2400" dirty="0">
              <a:solidFill>
                <a:srgbClr val="C00000"/>
              </a:solidFill>
              <a:latin typeface="+mn-lt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400" b="1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rgbClr val="002060"/>
                </a:solidFill>
                <a:latin typeface="+mn-lt"/>
              </a:rPr>
              <a:t>02– Планирование инновационных </a:t>
            </a:r>
            <a:r>
              <a:rPr lang="ru-RU" sz="2400" b="1" dirty="0" smtClean="0">
                <a:solidFill>
                  <a:srgbClr val="002060"/>
                </a:solidFill>
                <a:latin typeface="+mn-lt"/>
              </a:rPr>
              <a:t>процессов</a:t>
            </a:r>
            <a:endParaRPr lang="ru-RU" sz="2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2101334"/>
            <a:ext cx="860571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Системы планирования </a:t>
            </a:r>
            <a:r>
              <a:rPr lang="ru-RU" sz="2800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и </a:t>
            </a: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управления на основе </a:t>
            </a:r>
            <a:r>
              <a:rPr lang="ru-RU" sz="2800" b="1" i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сетевых графиков</a:t>
            </a: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,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Режимы </a:t>
            </a:r>
            <a:r>
              <a:rPr lang="ru-RU" sz="2800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функционирования </a:t>
            </a: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:</a:t>
            </a:r>
            <a:endParaRPr lang="ru-RU" sz="2800" dirty="0"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800" b="1" i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Виды </a:t>
            </a:r>
            <a:r>
              <a:rPr lang="ru-RU" sz="2800" b="1" i="1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сетевых моделей и порядок их построения</a:t>
            </a:r>
            <a:r>
              <a:rPr lang="ru-RU" sz="2800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.</a:t>
            </a:r>
            <a:endParaRPr lang="ru-RU" sz="2800" dirty="0"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Методы </a:t>
            </a:r>
            <a:r>
              <a:rPr lang="ru-RU" sz="2800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определения трудоёмкости сетевого </a:t>
            </a:r>
            <a:r>
              <a:rPr lang="ru-RU" sz="2800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графика;</a:t>
            </a:r>
            <a:endParaRPr lang="ru-RU" sz="2800" dirty="0"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Численность </a:t>
            </a:r>
            <a:r>
              <a:rPr lang="ru-RU" sz="28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научно-производственного персонала </a:t>
            </a:r>
            <a:endParaRPr lang="ru-RU" sz="280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 Составление плана-графика</a:t>
            </a:r>
            <a:endParaRPr lang="ru-RU" sz="28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82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468313" y="1160238"/>
            <a:ext cx="84961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</a:rPr>
              <a:t>2</a:t>
            </a:r>
            <a:endParaRPr lang="ru-RU" sz="2400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621902"/>
            <a:ext cx="8640637" cy="483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0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468313" y="1160238"/>
            <a:ext cx="84961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</a:rPr>
              <a:t>2 – Подготовка производства</a:t>
            </a:r>
          </a:p>
          <a:p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03 – Организация научно-исследовательских работ (НИР) и изобретательства </a:t>
            </a:r>
          </a:p>
          <a:p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6145" y="2602572"/>
            <a:ext cx="860571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algn="just"/>
            <a:r>
              <a:rPr lang="ru-RU" sz="2400" b="1" i="1" dirty="0" smtClean="0">
                <a:solidFill>
                  <a:srgbClr val="C00000"/>
                </a:solidFill>
              </a:rPr>
              <a:t>Типовые </a:t>
            </a:r>
            <a:r>
              <a:rPr lang="ru-RU" sz="2400" b="1" i="1" dirty="0">
                <a:solidFill>
                  <a:srgbClr val="C00000"/>
                </a:solidFill>
              </a:rPr>
              <a:t>этапы </a:t>
            </a:r>
            <a:r>
              <a:rPr lang="ru-RU" sz="2400" b="1" i="1" dirty="0" smtClean="0">
                <a:solidFill>
                  <a:srgbClr val="C00000"/>
                </a:solidFill>
              </a:rPr>
              <a:t>НИР</a:t>
            </a:r>
          </a:p>
          <a:p>
            <a:pPr algn="just"/>
            <a:endParaRPr lang="ru-RU" sz="2400" b="1" i="1" dirty="0">
              <a:solidFill>
                <a:srgbClr val="C00000"/>
              </a:solidFill>
            </a:endParaRPr>
          </a:p>
          <a:p>
            <a:pPr algn="just"/>
            <a:r>
              <a:rPr lang="ru-RU" sz="2400" b="1" i="1" dirty="0">
                <a:solidFill>
                  <a:srgbClr val="C00000"/>
                </a:solidFill>
              </a:rPr>
              <a:t>ГОСТ 15.101-80 – </a:t>
            </a:r>
            <a:r>
              <a:rPr lang="ru-RU" sz="2400" i="1" dirty="0">
                <a:solidFill>
                  <a:srgbClr val="C00000"/>
                </a:solidFill>
              </a:rPr>
              <a:t>Система разработки и постановки продукции на производство. Порядок проведения научно-исследовательских работ. Основные положения.</a:t>
            </a:r>
          </a:p>
          <a:p>
            <a:pPr algn="just"/>
            <a:endParaRPr lang="ru-RU" sz="2400" b="1" i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endParaRPr lang="ru-RU" sz="2800" b="1" dirty="0" smtClean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3510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557213" y="1196975"/>
            <a:ext cx="8496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</a:rPr>
              <a:t>2 – Подготовка производства</a:t>
            </a:r>
          </a:p>
          <a:p>
            <a:r>
              <a:rPr lang="ru-RU" sz="2400" b="1" smtClean="0">
                <a:solidFill>
                  <a:srgbClr val="002060"/>
                </a:solidFill>
              </a:rPr>
              <a:t>04-Организация </a:t>
            </a:r>
            <a:r>
              <a:rPr lang="ru-RU" sz="2400" b="1" dirty="0">
                <a:solidFill>
                  <a:srgbClr val="002060"/>
                </a:solidFill>
              </a:rPr>
              <a:t>конструкторской подготовки </a:t>
            </a:r>
            <a:r>
              <a:rPr lang="ru-RU" sz="2400" b="1" dirty="0" smtClean="0">
                <a:solidFill>
                  <a:srgbClr val="002060"/>
                </a:solidFill>
              </a:rPr>
              <a:t>производств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287" y="2816920"/>
            <a:ext cx="860571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C00000"/>
                </a:solidFill>
              </a:rPr>
              <a:t>ГОСТ </a:t>
            </a:r>
            <a:r>
              <a:rPr lang="ru-RU" sz="2400" b="1" dirty="0">
                <a:solidFill>
                  <a:srgbClr val="C00000"/>
                </a:solidFill>
              </a:rPr>
              <a:t>2.103-2013 </a:t>
            </a:r>
            <a:r>
              <a:rPr lang="ru-RU" sz="2400" b="1" dirty="0" smtClean="0">
                <a:solidFill>
                  <a:srgbClr val="002060"/>
                </a:solidFill>
              </a:rPr>
              <a:t>Межгосударственный </a:t>
            </a:r>
            <a:r>
              <a:rPr lang="ru-RU" sz="2400" b="1" dirty="0">
                <a:solidFill>
                  <a:srgbClr val="002060"/>
                </a:solidFill>
              </a:rPr>
              <a:t>стандарт Единая система конструкторской документации</a:t>
            </a:r>
            <a:r>
              <a:rPr lang="ru-RU" sz="2400" dirty="0">
                <a:solidFill>
                  <a:srgbClr val="002060"/>
                </a:solidFill>
              </a:rPr>
              <a:t> (ЕСКД</a:t>
            </a:r>
            <a:r>
              <a:rPr lang="ru-RU" sz="2400" dirty="0" smtClean="0">
                <a:solidFill>
                  <a:srgbClr val="002060"/>
                </a:solidFill>
              </a:rPr>
              <a:t>); 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</a:rPr>
              <a:t>ГОСТ 2.103-2013. </a:t>
            </a:r>
            <a:r>
              <a:rPr lang="ru-RU" sz="2400" dirty="0" smtClean="0">
                <a:solidFill>
                  <a:srgbClr val="002060"/>
                </a:solidFill>
              </a:rPr>
              <a:t>ЕСКД</a:t>
            </a:r>
            <a:r>
              <a:rPr lang="ru-RU" sz="2400" b="1" dirty="0" smtClean="0">
                <a:solidFill>
                  <a:srgbClr val="002060"/>
                </a:solidFill>
              </a:rPr>
              <a:t>.</a:t>
            </a:r>
            <a:r>
              <a:rPr lang="ru-RU" sz="2400" i="1" dirty="0" smtClean="0"/>
              <a:t>. </a:t>
            </a:r>
            <a:r>
              <a:rPr lang="ru-RU" sz="2400" b="1" i="1" dirty="0">
                <a:solidFill>
                  <a:srgbClr val="002060"/>
                </a:solidFill>
              </a:rPr>
              <a:t>Стадии разработки </a:t>
            </a:r>
            <a:r>
              <a:rPr lang="ru-RU" sz="2400" i="1" dirty="0">
                <a:solidFill>
                  <a:srgbClr val="002060"/>
                </a:solidFill>
              </a:rPr>
              <a:t>конструкторской документации</a:t>
            </a:r>
            <a:r>
              <a:rPr lang="ru-RU" sz="2400" b="1" i="1" dirty="0">
                <a:solidFill>
                  <a:srgbClr val="002060"/>
                </a:solidFill>
              </a:rPr>
              <a:t> </a:t>
            </a:r>
            <a:r>
              <a:rPr lang="ru-RU" sz="2400" i="1" dirty="0">
                <a:solidFill>
                  <a:srgbClr val="002060"/>
                </a:solidFill>
              </a:rPr>
              <a:t>и этапы выполнения работ</a:t>
            </a:r>
            <a:endParaRPr lang="ru-RU" sz="2400" dirty="0">
              <a:solidFill>
                <a:srgbClr val="002060"/>
              </a:solidFill>
            </a:endParaRPr>
          </a:p>
          <a:p>
            <a:pPr hangingPunct="0"/>
            <a:r>
              <a:rPr lang="ru-RU" sz="2400" b="1" dirty="0"/>
              <a:t> 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500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32000"/>
            <a:ext cx="9078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557213" y="1196975"/>
            <a:ext cx="8496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</a:rPr>
              <a:t>2 – Подготовка производства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04-Организация конструкторской подготовки </a:t>
            </a:r>
            <a:r>
              <a:rPr lang="ru-RU" sz="2400" b="1" dirty="0" smtClean="0">
                <a:solidFill>
                  <a:srgbClr val="002060"/>
                </a:solidFill>
              </a:rPr>
              <a:t>производств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56814" y="2368921"/>
            <a:ext cx="86057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ru-RU" sz="2400" b="1" dirty="0"/>
              <a:t> </a:t>
            </a:r>
            <a:r>
              <a:rPr lang="ru-RU" sz="2400" b="1" dirty="0" smtClean="0">
                <a:solidFill>
                  <a:srgbClr val="C00000"/>
                </a:solidFill>
              </a:rPr>
              <a:t>Р50.1.028-2001</a:t>
            </a:r>
            <a:r>
              <a:rPr lang="ru-RU" sz="2400" dirty="0"/>
              <a:t>. </a:t>
            </a:r>
            <a:r>
              <a:rPr lang="ru-RU" sz="2400" dirty="0">
                <a:solidFill>
                  <a:srgbClr val="002060"/>
                </a:solidFill>
              </a:rPr>
              <a:t>Методология функционального моделирования. М.: Госстандарт </a:t>
            </a:r>
            <a:r>
              <a:rPr lang="ru-RU" sz="2400" dirty="0" smtClean="0">
                <a:solidFill>
                  <a:srgbClr val="002060"/>
                </a:solidFill>
              </a:rPr>
              <a:t>России</a:t>
            </a:r>
            <a:endParaRPr lang="ru-RU" sz="2800" dirty="0">
              <a:solidFill>
                <a:srgbClr val="002060"/>
              </a:solidFill>
            </a:endParaRPr>
          </a:p>
        </p:txBody>
      </p:sp>
      <p:grpSp>
        <p:nvGrpSpPr>
          <p:cNvPr id="10" name="Полотно 12"/>
          <p:cNvGrpSpPr/>
          <p:nvPr/>
        </p:nvGrpSpPr>
        <p:grpSpPr>
          <a:xfrm>
            <a:off x="456814" y="3228974"/>
            <a:ext cx="8229986" cy="3253419"/>
            <a:chOff x="0" y="0"/>
            <a:chExt cx="3086100" cy="1871550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0" y="0"/>
              <a:ext cx="3086100" cy="185483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14010" y="685472"/>
              <a:ext cx="1372230" cy="5182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2800" b="1" dirty="0" err="1" smtClean="0">
                  <a:solidFill>
                    <a:srgbClr val="1F497D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Т</a:t>
              </a:r>
              <a:r>
                <a:rPr lang="ru-RU" sz="2800" b="1" baseline="-25000" dirty="0" err="1" smtClean="0">
                  <a:solidFill>
                    <a:srgbClr val="1F497D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предл</a:t>
              </a:r>
              <a:r>
                <a:rPr lang="ru-RU" sz="2800" b="1" dirty="0">
                  <a:solidFill>
                    <a:srgbClr val="1F497D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ЭП, ТП, РКТД</a:t>
              </a:r>
              <a:endPara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Line 5"/>
            <p:cNvCxnSpPr>
              <a:cxnSpLocks noChangeShapeType="1"/>
            </p:cNvCxnSpPr>
            <p:nvPr/>
          </p:nvCxnSpPr>
          <p:spPr bwMode="auto">
            <a:xfrm flipV="1">
              <a:off x="228300" y="914236"/>
              <a:ext cx="686520" cy="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6"/>
            <p:cNvCxnSpPr>
              <a:cxnSpLocks noChangeShapeType="1"/>
            </p:cNvCxnSpPr>
            <p:nvPr/>
          </p:nvCxnSpPr>
          <p:spPr bwMode="auto">
            <a:xfrm flipV="1">
              <a:off x="2286240" y="914236"/>
              <a:ext cx="456600" cy="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7"/>
            <p:cNvCxnSpPr>
              <a:cxnSpLocks noChangeShapeType="1"/>
            </p:cNvCxnSpPr>
            <p:nvPr/>
          </p:nvCxnSpPr>
          <p:spPr bwMode="auto">
            <a:xfrm>
              <a:off x="1599720" y="114792"/>
              <a:ext cx="81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8"/>
            <p:cNvCxnSpPr>
              <a:cxnSpLocks noChangeShapeType="1"/>
            </p:cNvCxnSpPr>
            <p:nvPr/>
          </p:nvCxnSpPr>
          <p:spPr bwMode="auto">
            <a:xfrm flipV="1">
              <a:off x="1599720" y="1143000"/>
              <a:ext cx="810" cy="4567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713870" y="114792"/>
              <a:ext cx="914820" cy="343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2800" b="1" dirty="0">
                  <a:solidFill>
                    <a:srgbClr val="1F3864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ЕСКД</a:t>
              </a:r>
              <a:endPara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228300" y="458348"/>
              <a:ext cx="570750" cy="3419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2800" b="1" dirty="0">
                  <a:solidFill>
                    <a:srgbClr val="1F3864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ТЗ</a:t>
              </a:r>
              <a:endPara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1"/>
            <p:cNvSpPr txBox="1">
              <a:spLocks noChangeArrowheads="1"/>
            </p:cNvSpPr>
            <p:nvPr/>
          </p:nvSpPr>
          <p:spPr bwMode="auto">
            <a:xfrm>
              <a:off x="2400390" y="571500"/>
              <a:ext cx="685710" cy="2886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2800" b="1" dirty="0">
                  <a:solidFill>
                    <a:srgbClr val="1F3864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РКТД</a:t>
              </a:r>
              <a:endPara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2"/>
            <p:cNvSpPr txBox="1">
              <a:spLocks noChangeArrowheads="1"/>
            </p:cNvSpPr>
            <p:nvPr/>
          </p:nvSpPr>
          <p:spPr bwMode="auto">
            <a:xfrm>
              <a:off x="1828020" y="1256809"/>
              <a:ext cx="948822" cy="6147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2800" b="1" dirty="0">
                  <a:solidFill>
                    <a:srgbClr val="1F3864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Персонал</a:t>
              </a:r>
              <a:endPara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ru-RU" sz="2800" b="1" dirty="0">
                  <a:solidFill>
                    <a:srgbClr val="1F3864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Службы </a:t>
              </a:r>
              <a:endPara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114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557213" y="2075934"/>
            <a:ext cx="9078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sz="1800" b="1" dirty="0">
                <a:solidFill>
                  <a:srgbClr val="002060"/>
                </a:solidFill>
              </a:rPr>
              <a:t>Взаимосвязь НОТ с другими науками</a:t>
            </a:r>
            <a:endParaRPr lang="ru-RU" altLang="ru-RU" sz="1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57213" y="1196975"/>
            <a:ext cx="8496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+mn-lt"/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  <a:latin typeface="+mn-lt"/>
              </a:rPr>
              <a:t>3 – Организация труда и его стимулирование</a:t>
            </a:r>
          </a:p>
          <a:p>
            <a:r>
              <a:rPr lang="ru-RU" sz="2400" b="1" dirty="0">
                <a:solidFill>
                  <a:srgbClr val="1F497D"/>
                </a:solidFill>
                <a:latin typeface="+mn-lt"/>
                <a:ea typeface="Times New Roman" panose="02020603050405020304" pitchFamily="18" charset="0"/>
              </a:rPr>
              <a:t>05– </a:t>
            </a:r>
            <a:r>
              <a:rPr lang="ru-RU" sz="2400" b="1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Организация труда и его </a:t>
            </a:r>
            <a:r>
              <a:rPr lang="ru-RU" sz="2400" b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стимулирование</a:t>
            </a:r>
            <a:endParaRPr lang="ru-RU" sz="2400" b="1" dirty="0" smtClean="0">
              <a:solidFill>
                <a:srgbClr val="C00000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09" y="2086355"/>
            <a:ext cx="8208912" cy="463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238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611560" y="2688952"/>
            <a:ext cx="842808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sz="2800" i="1" dirty="0" smtClean="0">
              <a:solidFill>
                <a:srgbClr val="C00000"/>
              </a:solidFill>
            </a:endParaRPr>
          </a:p>
          <a:p>
            <a:pPr marL="457200" indent="-457200">
              <a:spcBef>
                <a:spcPct val="0"/>
              </a:spcBef>
            </a:pPr>
            <a:r>
              <a:rPr lang="ru-RU" sz="2800" i="1" dirty="0" smtClean="0">
                <a:solidFill>
                  <a:srgbClr val="C00000"/>
                </a:solidFill>
              </a:rPr>
              <a:t>Задачи НОТ</a:t>
            </a:r>
          </a:p>
          <a:p>
            <a:pPr marL="457200" indent="-457200">
              <a:spcBef>
                <a:spcPct val="0"/>
              </a:spcBef>
            </a:pPr>
            <a:r>
              <a:rPr lang="ru-RU" sz="2800" i="1" dirty="0" smtClean="0">
                <a:solidFill>
                  <a:srgbClr val="C00000"/>
                </a:solidFill>
              </a:rPr>
              <a:t>Направления развития НОТ</a:t>
            </a:r>
          </a:p>
          <a:p>
            <a:pPr marL="457200" indent="-457200">
              <a:spcBef>
                <a:spcPct val="0"/>
              </a:spcBef>
            </a:pPr>
            <a:r>
              <a:rPr lang="ru-RU" sz="2800" i="1" dirty="0">
                <a:solidFill>
                  <a:srgbClr val="C00000"/>
                </a:solidFill>
              </a:rPr>
              <a:t>Разделение </a:t>
            </a:r>
            <a:r>
              <a:rPr lang="ru-RU" sz="2800" i="1" dirty="0" smtClean="0">
                <a:solidFill>
                  <a:srgbClr val="C00000"/>
                </a:solidFill>
              </a:rPr>
              <a:t>и кооперация труда</a:t>
            </a:r>
          </a:p>
          <a:p>
            <a:pPr marL="457200" indent="-457200">
              <a:spcBef>
                <a:spcPct val="0"/>
              </a:spcBef>
            </a:pPr>
            <a:r>
              <a:rPr lang="ru-RU" sz="2800" i="1" dirty="0">
                <a:solidFill>
                  <a:srgbClr val="C00000"/>
                </a:solidFill>
              </a:rPr>
              <a:t>Принципы </a:t>
            </a:r>
            <a:r>
              <a:rPr lang="ru-RU" sz="2800" i="1" dirty="0" smtClean="0">
                <a:solidFill>
                  <a:srgbClr val="C00000"/>
                </a:solidFill>
              </a:rPr>
              <a:t>и виды разделения и кооперации труда</a:t>
            </a:r>
            <a:endParaRPr lang="ru-RU" altLang="ru-RU" sz="2800" i="1" dirty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altLang="ru-RU" sz="2800" i="1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43468" y="1132048"/>
            <a:ext cx="8496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+mn-lt"/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  <a:latin typeface="+mn-lt"/>
              </a:rPr>
              <a:t>3 – Организация труда и его стимулирование</a:t>
            </a:r>
          </a:p>
          <a:p>
            <a:r>
              <a:rPr lang="ru-RU" sz="2400" b="1" dirty="0">
                <a:solidFill>
                  <a:srgbClr val="1F497D"/>
                </a:solidFill>
                <a:latin typeface="+mn-lt"/>
                <a:ea typeface="Times New Roman" panose="02020603050405020304" pitchFamily="18" charset="0"/>
              </a:rPr>
              <a:t>05– </a:t>
            </a:r>
            <a:r>
              <a:rPr lang="ru-RU" sz="2400" b="1" dirty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Организация труда и его </a:t>
            </a:r>
            <a:r>
              <a:rPr lang="ru-RU" sz="2400" b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стимулирование в традиционной и цифровой экономике</a:t>
            </a:r>
            <a:endParaRPr lang="ru-RU" sz="2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966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66569" name="Rectangle 3"/>
          <p:cNvSpPr>
            <a:spLocks noChangeArrowheads="1"/>
          </p:cNvSpPr>
          <p:nvPr/>
        </p:nvSpPr>
        <p:spPr bwMode="auto">
          <a:xfrm>
            <a:off x="611560" y="2408876"/>
            <a:ext cx="8428083" cy="366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2800" i="1" dirty="0" smtClean="0">
                <a:solidFill>
                  <a:srgbClr val="002060"/>
                </a:solidFill>
              </a:rPr>
              <a:t>Задачи, виды, объекты, методы нормирования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800" i="1" dirty="0" smtClean="0">
                <a:solidFill>
                  <a:srgbClr val="002060"/>
                </a:solidFill>
              </a:rPr>
              <a:t>Нормы затрат труда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800" b="1" dirty="0" smtClean="0">
                <a:solidFill>
                  <a:srgbClr val="C00000"/>
                </a:solidFill>
              </a:rPr>
              <a:t>Норма </a:t>
            </a:r>
            <a:r>
              <a:rPr lang="ru-RU" altLang="ru-RU" sz="2800" b="1" dirty="0">
                <a:solidFill>
                  <a:srgbClr val="C00000"/>
                </a:solidFill>
              </a:rPr>
              <a:t>времени </a:t>
            </a:r>
            <a:r>
              <a:rPr lang="ru-RU" altLang="ru-RU" sz="2800" dirty="0">
                <a:solidFill>
                  <a:srgbClr val="002060"/>
                </a:solidFill>
              </a:rPr>
              <a:t>— </a:t>
            </a:r>
            <a:r>
              <a:rPr lang="ru-RU" altLang="ru-RU" sz="2800" b="1" dirty="0">
                <a:solidFill>
                  <a:srgbClr val="C00000"/>
                </a:solidFill>
              </a:rPr>
              <a:t>трудоемкость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ru-RU" sz="2800" b="1" dirty="0">
                <a:solidFill>
                  <a:srgbClr val="002060"/>
                </a:solidFill>
              </a:rPr>
              <a:t>t =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k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=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o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в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 smtClean="0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 smtClean="0">
                <a:solidFill>
                  <a:srgbClr val="002060"/>
                </a:solidFill>
              </a:rPr>
              <a:t>обт</a:t>
            </a:r>
            <a:r>
              <a:rPr lang="ru-RU" altLang="ru-RU" sz="2800" b="1" baseline="-25000" dirty="0" smtClean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 smtClean="0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 smtClean="0">
                <a:solidFill>
                  <a:srgbClr val="002060"/>
                </a:solidFill>
              </a:rPr>
              <a:t>обо</a:t>
            </a:r>
            <a:r>
              <a:rPr lang="ru-RU" altLang="ru-RU" sz="2800" b="1" baseline="-25000" dirty="0" smtClean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отл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пт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п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-з </a:t>
            </a:r>
            <a:r>
              <a:rPr lang="ru-RU" altLang="ru-RU" sz="2800" b="1" dirty="0">
                <a:solidFill>
                  <a:srgbClr val="002060"/>
                </a:solidFill>
              </a:rPr>
              <a:t>/ n</a:t>
            </a:r>
            <a:endParaRPr lang="ru-RU" altLang="ru-RU" sz="2800" dirty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en-US" altLang="ru-RU" sz="2800" b="1" dirty="0" smtClean="0">
                <a:solidFill>
                  <a:srgbClr val="002060"/>
                </a:solidFill>
              </a:rPr>
              <a:t>t </a:t>
            </a:r>
            <a:r>
              <a:rPr lang="en-US" altLang="ru-RU" sz="2800" b="1" dirty="0">
                <a:solidFill>
                  <a:srgbClr val="002060"/>
                </a:solidFill>
              </a:rPr>
              <a:t>=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000" b="1" dirty="0" err="1">
                <a:solidFill>
                  <a:srgbClr val="002060"/>
                </a:solidFill>
              </a:rPr>
              <a:t>шт</a:t>
            </a:r>
            <a:r>
              <a:rPr lang="ru-RU" altLang="ru-RU" sz="2800" b="1" dirty="0">
                <a:solidFill>
                  <a:srgbClr val="002060"/>
                </a:solidFill>
              </a:rPr>
              <a:t> 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=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o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в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об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отл</a:t>
            </a:r>
            <a:r>
              <a:rPr lang="ru-RU" alt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</a:rPr>
              <a:t>+ </a:t>
            </a:r>
            <a:r>
              <a:rPr lang="ru-RU" altLang="ru-RU" sz="2800" b="1" dirty="0" err="1">
                <a:solidFill>
                  <a:srgbClr val="002060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002060"/>
                </a:solidFill>
              </a:rPr>
              <a:t>пт</a:t>
            </a:r>
            <a:endParaRPr lang="ru-RU" altLang="ru-RU" sz="2800" dirty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ru-RU" altLang="ru-RU" sz="2800" b="1" i="1" dirty="0">
                <a:solidFill>
                  <a:srgbClr val="C00000"/>
                </a:solidFill>
              </a:rPr>
              <a:t>Норма </a:t>
            </a:r>
            <a:r>
              <a:rPr lang="ru-RU" altLang="ru-RU" sz="2800" b="1" i="1" dirty="0" smtClean="0">
                <a:solidFill>
                  <a:srgbClr val="C00000"/>
                </a:solidFill>
              </a:rPr>
              <a:t>выработки – результат труда:</a:t>
            </a:r>
            <a:endParaRPr lang="ru-RU" altLang="ru-RU" sz="2800" dirty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ru-RU" altLang="ru-RU" sz="2800" b="1" dirty="0" err="1">
                <a:solidFill>
                  <a:srgbClr val="A50021"/>
                </a:solidFill>
              </a:rPr>
              <a:t>Н</a:t>
            </a:r>
            <a:r>
              <a:rPr lang="ru-RU" altLang="ru-RU" sz="2800" b="1" baseline="-25000" dirty="0" err="1">
                <a:solidFill>
                  <a:srgbClr val="A50021"/>
                </a:solidFill>
              </a:rPr>
              <a:t>в</a:t>
            </a:r>
            <a:r>
              <a:rPr lang="ru-RU" altLang="ru-RU" sz="2800" b="1" dirty="0">
                <a:solidFill>
                  <a:srgbClr val="A50021"/>
                </a:solidFill>
              </a:rPr>
              <a:t> = </a:t>
            </a:r>
            <a:r>
              <a:rPr lang="ru-RU" altLang="ru-RU" sz="2800" b="1" dirty="0" err="1">
                <a:solidFill>
                  <a:srgbClr val="A50021"/>
                </a:solidFill>
              </a:rPr>
              <a:t>T</a:t>
            </a:r>
            <a:r>
              <a:rPr lang="ru-RU" altLang="ru-RU" sz="2800" b="1" baseline="-25000" dirty="0" err="1">
                <a:solidFill>
                  <a:srgbClr val="A50021"/>
                </a:solidFill>
              </a:rPr>
              <a:t>п</a:t>
            </a:r>
            <a:r>
              <a:rPr lang="ru-RU" altLang="ru-RU" sz="2800" b="1" baseline="-25000" dirty="0">
                <a:solidFill>
                  <a:srgbClr val="A50021"/>
                </a:solidFill>
              </a:rPr>
              <a:t> </a:t>
            </a:r>
            <a:r>
              <a:rPr lang="ru-RU" altLang="ru-RU" sz="2800" b="1" dirty="0">
                <a:solidFill>
                  <a:srgbClr val="A50021"/>
                </a:solidFill>
              </a:rPr>
              <a:t>/ t</a:t>
            </a:r>
            <a:r>
              <a:rPr lang="ru-RU" altLang="ru-RU" sz="2800" dirty="0">
                <a:solidFill>
                  <a:srgbClr val="A50021"/>
                </a:solidFill>
              </a:rPr>
              <a:t> ;     </a:t>
            </a:r>
            <a:r>
              <a:rPr lang="ru-RU" altLang="ru-RU" sz="2800" i="1" dirty="0" smtClean="0">
                <a:solidFill>
                  <a:srgbClr val="002060"/>
                </a:solidFill>
              </a:rPr>
              <a:t>  </a:t>
            </a:r>
            <a:endParaRPr lang="ru-RU" altLang="ru-RU" sz="2800" i="1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43468" y="1132048"/>
            <a:ext cx="8496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+mn-lt"/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  <a:latin typeface="+mn-lt"/>
              </a:rPr>
              <a:t>3 – Организация труда и его стимулирование</a:t>
            </a:r>
          </a:p>
          <a:p>
            <a:r>
              <a:rPr lang="ru-RU" sz="2400" b="1" dirty="0" smtClean="0">
                <a:solidFill>
                  <a:srgbClr val="1F497D"/>
                </a:solidFill>
                <a:latin typeface="+mn-lt"/>
                <a:ea typeface="Times New Roman" panose="02020603050405020304" pitchFamily="18" charset="0"/>
              </a:rPr>
              <a:t>06 – Основы нормирования </a:t>
            </a:r>
            <a:r>
              <a:rPr lang="ru-RU" sz="2400" b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труда</a:t>
            </a:r>
            <a:endParaRPr lang="ru-RU" sz="2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53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543468" y="1132048"/>
            <a:ext cx="8496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+mn-lt"/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  <a:latin typeface="+mn-lt"/>
              </a:rPr>
              <a:t>3 – Организация труда и его стимулирование</a:t>
            </a:r>
          </a:p>
          <a:p>
            <a:r>
              <a:rPr lang="ru-RU" sz="2400" b="1" dirty="0" smtClean="0">
                <a:solidFill>
                  <a:srgbClr val="1F497D"/>
                </a:solidFill>
                <a:latin typeface="+mn-lt"/>
                <a:ea typeface="Times New Roman" panose="02020603050405020304" pitchFamily="18" charset="0"/>
              </a:rPr>
              <a:t>06 – Основы нормирования </a:t>
            </a:r>
            <a:r>
              <a:rPr lang="ru-RU" sz="2400" b="1" dirty="0" smtClean="0">
                <a:solidFill>
                  <a:srgbClr val="002060"/>
                </a:solidFill>
                <a:latin typeface="+mn-lt"/>
                <a:ea typeface="Times New Roman" panose="02020603050405020304" pitchFamily="18" charset="0"/>
              </a:rPr>
              <a:t>труда</a:t>
            </a:r>
            <a:endParaRPr lang="ru-RU" sz="2400" b="1" dirty="0" smtClean="0">
              <a:solidFill>
                <a:srgbClr val="C00000"/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2042579"/>
            <a:ext cx="8459787" cy="447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079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Лекции – 17 часов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543468" y="1132048"/>
            <a:ext cx="84961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 </a:t>
            </a:r>
            <a:r>
              <a:rPr lang="ru-RU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– Организация труда и его стимулирование</a:t>
            </a:r>
          </a:p>
          <a:p>
            <a:r>
              <a:rPr lang="ru-RU" sz="2400" b="1" dirty="0" smtClean="0">
                <a:solidFill>
                  <a:srgbClr val="1F497D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07 – </a:t>
            </a:r>
            <a:r>
              <a:rPr lang="ru-RU" sz="2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оплаты и </a:t>
            </a:r>
            <a:r>
              <a:rPr lang="ru-RU" sz="24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мотивации труда</a:t>
            </a:r>
          </a:p>
          <a:p>
            <a:pPr algn="ctr"/>
            <a:endParaRPr lang="ru-RU" altLang="ru-RU" sz="2400" b="1" dirty="0" smtClean="0">
              <a:solidFill>
                <a:srgbClr val="A50021"/>
              </a:solidFill>
            </a:endParaRPr>
          </a:p>
          <a:p>
            <a:pPr algn="ctr"/>
            <a:r>
              <a:rPr lang="ru-RU" altLang="ru-RU" sz="2400" b="1" dirty="0" smtClean="0">
                <a:solidFill>
                  <a:srgbClr val="A50021"/>
                </a:solidFill>
              </a:rPr>
              <a:t>Общие </a:t>
            </a:r>
            <a:r>
              <a:rPr lang="ru-RU" altLang="ru-RU" sz="2400" b="1" dirty="0">
                <a:solidFill>
                  <a:srgbClr val="A50021"/>
                </a:solidFill>
              </a:rPr>
              <a:t>принципы мотивации</a:t>
            </a:r>
            <a:endParaRPr lang="ru-RU" sz="24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578100"/>
            <a:ext cx="7344816" cy="414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000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400" smtClean="0"/>
          </a:p>
          <a:p>
            <a:pPr>
              <a:spcBef>
                <a:spcPct val="0"/>
              </a:spcBef>
              <a:buFontTx/>
              <a:buNone/>
            </a:pPr>
            <a:fld id="{9F28F444-AF84-4CC3-A82F-2AC63E6B2C44}" type="slidenum">
              <a:rPr lang="ru-RU" altLang="ru-RU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88913"/>
            <a:ext cx="8424863" cy="1008062"/>
          </a:xfrm>
        </p:spPr>
        <p:txBody>
          <a:bodyPr anchor="ctr"/>
          <a:lstStyle/>
          <a:p>
            <a:pPr eaLnBrk="1" hangingPunct="1"/>
            <a:r>
              <a:rPr lang="ru-RU" altLang="ru-RU" sz="4000" b="1" dirty="0" smtClean="0">
                <a:solidFill>
                  <a:srgbClr val="A50021"/>
                </a:solidFill>
              </a:rPr>
              <a:t>Семинары – 34 часа</a:t>
            </a:r>
            <a:br>
              <a:rPr lang="ru-RU" altLang="ru-RU" sz="4000" b="1" dirty="0" smtClean="0">
                <a:solidFill>
                  <a:srgbClr val="A50021"/>
                </a:solidFill>
              </a:rPr>
            </a:br>
            <a:endParaRPr lang="ru-RU" altLang="ru-RU" sz="4000" dirty="0" smtClean="0">
              <a:solidFill>
                <a:srgbClr val="A50021"/>
              </a:solidFill>
            </a:endParaRPr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2578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 flipV="1">
            <a:off x="468313" y="1052513"/>
            <a:ext cx="8316912" cy="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443304" y="1196975"/>
            <a:ext cx="849617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</a:rPr>
              <a:t>01 – Принятие решений в инновационном процессе 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>
                <a:solidFill>
                  <a:srgbClr val="002060"/>
                </a:solidFill>
              </a:rPr>
              <a:t>02 – Обобщённый технический показатель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>
                <a:solidFill>
                  <a:srgbClr val="002060"/>
                </a:solidFill>
              </a:rPr>
              <a:t>03 – Сетевое планирование </a:t>
            </a:r>
            <a:r>
              <a:rPr lang="ru-RU" sz="2000" b="1" dirty="0" smtClean="0">
                <a:solidFill>
                  <a:srgbClr val="002060"/>
                </a:solidFill>
              </a:rPr>
              <a:t>инноваций (правила)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>
                <a:solidFill>
                  <a:srgbClr val="002060"/>
                </a:solidFill>
              </a:rPr>
              <a:t>04 – Исходное планирование. Расчёт параметров 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>
                <a:solidFill>
                  <a:srgbClr val="002060"/>
                </a:solidFill>
              </a:rPr>
              <a:t>05 – Оптимизация сетевого графика 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>
                <a:solidFill>
                  <a:srgbClr val="002060"/>
                </a:solidFill>
              </a:rPr>
              <a:t>06 – Организация НИР и изобретательства. НТЭ. 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>
                <a:solidFill>
                  <a:srgbClr val="002060"/>
                </a:solidFill>
              </a:rPr>
              <a:t>07 – Оборонный </a:t>
            </a:r>
            <a:r>
              <a:rPr lang="ru-RU" sz="2000" b="1" dirty="0" smtClean="0">
                <a:solidFill>
                  <a:srgbClr val="002060"/>
                </a:solidFill>
              </a:rPr>
              <a:t>и экономический эффекты, смета затрат .</a:t>
            </a:r>
          </a:p>
          <a:p>
            <a:r>
              <a:rPr lang="ru-RU" sz="2000" b="1" dirty="0" smtClean="0">
                <a:solidFill>
                  <a:srgbClr val="002060"/>
                </a:solidFill>
              </a:rPr>
              <a:t>08 – </a:t>
            </a:r>
            <a:r>
              <a:rPr lang="ru-RU" sz="2000" b="1" dirty="0">
                <a:solidFill>
                  <a:srgbClr val="002060"/>
                </a:solidFill>
              </a:rPr>
              <a:t>Организация </a:t>
            </a:r>
            <a:r>
              <a:rPr lang="ru-RU" sz="2000" b="1" dirty="0" smtClean="0">
                <a:solidFill>
                  <a:srgbClr val="002060"/>
                </a:solidFill>
              </a:rPr>
              <a:t>КТПП  </a:t>
            </a:r>
            <a:endParaRPr lang="ru-RU" sz="2000" dirty="0">
              <a:solidFill>
                <a:srgbClr val="002060"/>
              </a:solidFill>
            </a:endParaRPr>
          </a:p>
          <a:p>
            <a:r>
              <a:rPr lang="ru-RU" sz="2000" b="1" dirty="0" smtClean="0">
                <a:solidFill>
                  <a:srgbClr val="002060"/>
                </a:solidFill>
              </a:rPr>
              <a:t>09 </a:t>
            </a:r>
            <a:r>
              <a:rPr lang="ru-RU" sz="2000" b="1" dirty="0">
                <a:solidFill>
                  <a:srgbClr val="002060"/>
                </a:solidFill>
              </a:rPr>
              <a:t>– Организация освоения производства новой </a:t>
            </a:r>
            <a:r>
              <a:rPr lang="ru-RU" sz="2000" b="1" dirty="0" smtClean="0">
                <a:solidFill>
                  <a:srgbClr val="002060"/>
                </a:solidFill>
              </a:rPr>
              <a:t>техники</a:t>
            </a:r>
            <a:r>
              <a:rPr lang="ru-RU" sz="2000" dirty="0">
                <a:solidFill>
                  <a:srgbClr val="002060"/>
                </a:solidFill>
              </a:rPr>
              <a:t> </a:t>
            </a:r>
          </a:p>
          <a:p>
            <a:pPr lvl="0"/>
            <a:r>
              <a:rPr lang="ru-RU" sz="2000" b="1" dirty="0">
                <a:solidFill>
                  <a:srgbClr val="002060"/>
                </a:solidFill>
              </a:rPr>
              <a:t> </a:t>
            </a:r>
            <a:r>
              <a:rPr lang="ru-RU" sz="2000" b="1" dirty="0" smtClean="0">
                <a:solidFill>
                  <a:srgbClr val="002060"/>
                </a:solidFill>
              </a:rPr>
              <a:t>10 – </a:t>
            </a:r>
            <a:r>
              <a:rPr lang="ru-RU" sz="2000" b="1" dirty="0">
                <a:solidFill>
                  <a:srgbClr val="002060"/>
                </a:solidFill>
              </a:rPr>
              <a:t>Разделение </a:t>
            </a:r>
            <a:r>
              <a:rPr lang="ru-RU" sz="2000" b="1" dirty="0" smtClean="0">
                <a:solidFill>
                  <a:srgbClr val="002060"/>
                </a:solidFill>
              </a:rPr>
              <a:t>труда</a:t>
            </a:r>
          </a:p>
          <a:p>
            <a:r>
              <a:rPr lang="ru-RU" sz="2000" b="1" dirty="0" smtClean="0">
                <a:solidFill>
                  <a:srgbClr val="002060"/>
                </a:solidFill>
              </a:rPr>
              <a:t>11 – Организация </a:t>
            </a:r>
            <a:r>
              <a:rPr lang="ru-RU" sz="2000" b="1" dirty="0">
                <a:solidFill>
                  <a:srgbClr val="002060"/>
                </a:solidFill>
              </a:rPr>
              <a:t>и обслуживание рабочего </a:t>
            </a:r>
            <a:r>
              <a:rPr lang="ru-RU" sz="2000" b="1" dirty="0" smtClean="0">
                <a:solidFill>
                  <a:srgbClr val="002060"/>
                </a:solidFill>
              </a:rPr>
              <a:t>места</a:t>
            </a:r>
          </a:p>
          <a:p>
            <a:pPr lvl="0"/>
            <a:r>
              <a:rPr lang="ru-RU" sz="2000" b="1" dirty="0" smtClean="0">
                <a:solidFill>
                  <a:srgbClr val="002060"/>
                </a:solidFill>
              </a:rPr>
              <a:t>12 – </a:t>
            </a:r>
            <a:r>
              <a:rPr lang="ru-RU" sz="2000" b="1" dirty="0">
                <a:solidFill>
                  <a:srgbClr val="002060"/>
                </a:solidFill>
              </a:rPr>
              <a:t>Методы нормирования труда. </a:t>
            </a:r>
            <a:r>
              <a:rPr lang="ru-RU" sz="2000" b="1" dirty="0" smtClean="0">
                <a:solidFill>
                  <a:srgbClr val="002060"/>
                </a:solidFill>
              </a:rPr>
              <a:t>Хронометраж</a:t>
            </a:r>
          </a:p>
          <a:p>
            <a:r>
              <a:rPr lang="ru-RU" sz="2000" b="1" dirty="0" smtClean="0">
                <a:solidFill>
                  <a:srgbClr val="002060"/>
                </a:solidFill>
              </a:rPr>
              <a:t>13 – </a:t>
            </a:r>
            <a:r>
              <a:rPr lang="ru-RU" sz="2000" b="1" dirty="0">
                <a:solidFill>
                  <a:srgbClr val="002060"/>
                </a:solidFill>
              </a:rPr>
              <a:t>Методы нормирования труда. </a:t>
            </a:r>
            <a:r>
              <a:rPr lang="ru-RU" sz="2000" b="1" dirty="0" smtClean="0">
                <a:solidFill>
                  <a:srgbClr val="002060"/>
                </a:solidFill>
              </a:rPr>
              <a:t>ФРВ.</a:t>
            </a:r>
          </a:p>
          <a:p>
            <a:r>
              <a:rPr lang="ru-RU" sz="2000" b="1" dirty="0" smtClean="0">
                <a:solidFill>
                  <a:srgbClr val="002060"/>
                </a:solidFill>
              </a:rPr>
              <a:t>14 – </a:t>
            </a:r>
            <a:r>
              <a:rPr lang="ru-RU" altLang="ru-RU" sz="2000" b="1" dirty="0">
                <a:solidFill>
                  <a:srgbClr val="002060"/>
                </a:solidFill>
              </a:rPr>
              <a:t>Системы оплаты </a:t>
            </a:r>
            <a:r>
              <a:rPr lang="ru-RU" altLang="ru-RU" sz="2000" b="1" dirty="0" smtClean="0">
                <a:solidFill>
                  <a:srgbClr val="002060"/>
                </a:solidFill>
              </a:rPr>
              <a:t>труда (Тарифные индивидуальные)</a:t>
            </a:r>
          </a:p>
          <a:p>
            <a:r>
              <a:rPr lang="ru-RU" altLang="ru-RU" sz="2000" b="1" dirty="0" smtClean="0">
                <a:solidFill>
                  <a:srgbClr val="002060"/>
                </a:solidFill>
              </a:rPr>
              <a:t>15 – </a:t>
            </a:r>
            <a:r>
              <a:rPr lang="ru-RU" altLang="ru-RU" sz="2000" b="1" dirty="0">
                <a:solidFill>
                  <a:srgbClr val="002060"/>
                </a:solidFill>
              </a:rPr>
              <a:t>Системы оплаты труда (</a:t>
            </a:r>
            <a:r>
              <a:rPr lang="ru-RU" altLang="ru-RU" sz="2000" b="1" dirty="0" smtClean="0">
                <a:solidFill>
                  <a:srgbClr val="002060"/>
                </a:solidFill>
              </a:rPr>
              <a:t>Тарифные, бестарифные, коллективные, сложные).</a:t>
            </a:r>
          </a:p>
          <a:p>
            <a:r>
              <a:rPr lang="ru-RU" altLang="ru-RU" sz="2000" b="1" dirty="0" smtClean="0">
                <a:solidFill>
                  <a:srgbClr val="C00000"/>
                </a:solidFill>
              </a:rPr>
              <a:t>+ время на проведение рубежных контролей и зачёта</a:t>
            </a:r>
          </a:p>
        </p:txBody>
      </p:sp>
    </p:spTree>
    <p:extLst>
      <p:ext uri="{BB962C8B-B14F-4D97-AF65-F5344CB8AC3E}">
        <p14:creationId xmlns:p14="http://schemas.microsoft.com/office/powerpoint/2010/main" val="3723969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611560" y="0"/>
            <a:ext cx="7920880" cy="908720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Задание на ВКР  </a:t>
            </a:r>
            <a:endParaRPr lang="ru-RU" sz="40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1560" y="908720"/>
            <a:ext cx="801219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solidFill>
                  <a:srgbClr val="C00000"/>
                </a:solidFill>
                <a:latin typeface="+mn-lt"/>
              </a:rPr>
              <a:t>Тема: Разработка, проектирование, исследование ….чего-либо.</a:t>
            </a:r>
          </a:p>
          <a:p>
            <a:pPr algn="just"/>
            <a:r>
              <a:rPr lang="ru-RU" sz="2800" b="1" dirty="0" smtClean="0">
                <a:solidFill>
                  <a:srgbClr val="002060"/>
                </a:solidFill>
                <a:latin typeface="+mn-lt"/>
              </a:rPr>
              <a:t>Т.е. – разработка</a:t>
            </a:r>
            <a:r>
              <a:rPr lang="ru-RU" sz="2800" b="1" dirty="0">
                <a:solidFill>
                  <a:srgbClr val="002060"/>
                </a:solidFill>
                <a:latin typeface="+mn-lt"/>
              </a:rPr>
              <a:t>, проектирование, исследование </a:t>
            </a:r>
            <a:r>
              <a:rPr lang="ru-RU" sz="2800" b="1" dirty="0" smtClean="0">
                <a:solidFill>
                  <a:srgbClr val="002060"/>
                </a:solidFill>
                <a:latin typeface="+mn-lt"/>
              </a:rPr>
              <a:t>какой-либо инновации</a:t>
            </a:r>
          </a:p>
          <a:p>
            <a:pPr algn="just"/>
            <a:r>
              <a:rPr lang="ru-RU" sz="2800" b="1" dirty="0" smtClean="0">
                <a:solidFill>
                  <a:srgbClr val="002060"/>
                </a:solidFill>
                <a:latin typeface="+mn-lt"/>
              </a:rPr>
              <a:t>Деятельность по созданию инновации –</a:t>
            </a:r>
          </a:p>
          <a:p>
            <a:pPr algn="r"/>
            <a:r>
              <a:rPr lang="ru-RU" sz="2800" b="1" dirty="0" smtClean="0">
                <a:solidFill>
                  <a:srgbClr val="C00000"/>
                </a:solidFill>
                <a:latin typeface="+mn-lt"/>
              </a:rPr>
              <a:t>инновационный процесс</a:t>
            </a:r>
            <a:endParaRPr lang="ru-RU" sz="28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717032"/>
            <a:ext cx="8496944" cy="31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4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611560" y="0"/>
            <a:ext cx="7920880" cy="908720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Задание на ВКР  </a:t>
            </a:r>
            <a:endParaRPr lang="ru-RU" sz="40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1560" y="908720"/>
            <a:ext cx="801219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solidFill>
                  <a:srgbClr val="C00000"/>
                </a:solidFill>
                <a:latin typeface="+mn-lt"/>
              </a:rPr>
              <a:t>Структура:</a:t>
            </a:r>
          </a:p>
          <a:p>
            <a:pPr algn="just"/>
            <a:endParaRPr lang="ru-RU" sz="2800" b="1" dirty="0" smtClean="0">
              <a:solidFill>
                <a:srgbClr val="C00000"/>
              </a:solidFill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Тема инновационной разработки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Параметры, которые необходимо обеспечить в ВКР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Исследовательская часть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Конструкторская часть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Технологическая часть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Организационно-экономическая часть (ОЭЧ)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Экология (безопасность труда</a:t>
            </a:r>
            <a:r>
              <a:rPr lang="ru-RU" sz="2400" dirty="0" smtClean="0">
                <a:solidFill>
                  <a:srgbClr val="002060"/>
                </a:solidFill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Сроки, объём РПЗ, состав графики</a:t>
            </a:r>
            <a:endParaRPr lang="ru-RU" sz="2400" dirty="0">
              <a:solidFill>
                <a:srgbClr val="002060"/>
              </a:solidFill>
            </a:endParaRPr>
          </a:p>
          <a:p>
            <a:pPr algn="just"/>
            <a:endParaRPr lang="ru-RU" sz="2800" b="1" dirty="0" smtClean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556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9394" y="20423"/>
            <a:ext cx="9134606" cy="744282"/>
          </a:xfrm>
        </p:spPr>
        <p:txBody>
          <a:bodyPr/>
          <a:lstStyle/>
          <a:p>
            <a:r>
              <a:rPr lang="ru-RU" sz="3600" b="1" dirty="0">
                <a:solidFill>
                  <a:srgbClr val="C00000"/>
                </a:solidFill>
              </a:rPr>
              <a:t>Организационно-экономическая часть (</a:t>
            </a:r>
            <a:r>
              <a:rPr lang="ru-RU" sz="3600" b="1" dirty="0" smtClean="0">
                <a:solidFill>
                  <a:srgbClr val="C00000"/>
                </a:solidFill>
              </a:rPr>
              <a:t>ОЭЧ)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665045"/>
            <a:ext cx="871296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rgbClr val="C00000"/>
                </a:solidFill>
              </a:rPr>
              <a:t>Тема ОЭЧ </a:t>
            </a:r>
            <a:r>
              <a:rPr lang="ru-RU" sz="2400" b="1" dirty="0" smtClean="0"/>
              <a:t>– </a:t>
            </a:r>
            <a:r>
              <a:rPr lang="ru-RU" sz="2400" b="1" dirty="0" smtClean="0">
                <a:solidFill>
                  <a:srgbClr val="002060"/>
                </a:solidFill>
              </a:rPr>
              <a:t>см. Методические рекомендации по выполнению ОЭЧ ВКР специалиста (</a:t>
            </a:r>
            <a:r>
              <a:rPr lang="ru-RU" sz="2400" dirty="0" smtClean="0">
                <a:solidFill>
                  <a:srgbClr val="002060"/>
                </a:solidFill>
              </a:rPr>
              <a:t>инженерные приборные кафедры)</a:t>
            </a:r>
          </a:p>
          <a:p>
            <a:endParaRPr lang="ru-RU" sz="2400" b="1" dirty="0" smtClean="0"/>
          </a:p>
          <a:p>
            <a:r>
              <a:rPr lang="ru-RU" sz="2400" b="1" dirty="0" smtClean="0">
                <a:solidFill>
                  <a:srgbClr val="C00000"/>
                </a:solidFill>
              </a:rPr>
              <a:t>Цель </a:t>
            </a:r>
            <a:r>
              <a:rPr lang="ru-RU" sz="2400" b="1" dirty="0">
                <a:solidFill>
                  <a:srgbClr val="C00000"/>
                </a:solidFill>
              </a:rPr>
              <a:t>ОЭЧ</a:t>
            </a:r>
            <a:r>
              <a:rPr lang="ru-RU" sz="2400" b="1" dirty="0"/>
              <a:t> </a:t>
            </a:r>
            <a:r>
              <a:rPr lang="ru-RU" sz="2400" b="1" dirty="0">
                <a:solidFill>
                  <a:srgbClr val="002060"/>
                </a:solidFill>
              </a:rPr>
              <a:t>– обосновать целесообразность дальнейшей разработки темы </a:t>
            </a:r>
            <a:r>
              <a:rPr lang="ru-RU" sz="2400" b="1" dirty="0" smtClean="0">
                <a:solidFill>
                  <a:srgbClr val="002060"/>
                </a:solidFill>
              </a:rPr>
              <a:t>ВКР на </a:t>
            </a:r>
            <a:r>
              <a:rPr lang="ru-RU" sz="2400" b="1" dirty="0">
                <a:solidFill>
                  <a:srgbClr val="002060"/>
                </a:solidFill>
              </a:rPr>
              <a:t>основе результатов решения задач </a:t>
            </a:r>
            <a:r>
              <a:rPr lang="ru-RU" sz="2400" b="1" dirty="0" smtClean="0">
                <a:solidFill>
                  <a:srgbClr val="002060"/>
                </a:solidFill>
              </a:rPr>
              <a:t>ОЭЧ </a:t>
            </a:r>
            <a:endParaRPr lang="ru-RU" sz="2400" b="1" dirty="0" smtClean="0">
              <a:solidFill>
                <a:srgbClr val="002060"/>
              </a:solidFill>
            </a:endParaRPr>
          </a:p>
          <a:p>
            <a:r>
              <a:rPr lang="ru-RU" sz="2400" b="1" dirty="0"/>
              <a:t> </a:t>
            </a:r>
            <a:endParaRPr lang="ru-RU" sz="2400" dirty="0"/>
          </a:p>
          <a:p>
            <a:pPr lvl="0"/>
            <a:r>
              <a:rPr lang="ru-RU" sz="2400" b="1" dirty="0" smtClean="0">
                <a:solidFill>
                  <a:srgbClr val="C00000"/>
                </a:solidFill>
              </a:rPr>
              <a:t>Типовые Задачи ОЭЧ </a:t>
            </a:r>
            <a:r>
              <a:rPr lang="ru-RU" sz="2400" b="1" dirty="0" smtClean="0">
                <a:solidFill>
                  <a:srgbClr val="002060"/>
                </a:solidFill>
              </a:rPr>
              <a:t>(вне зависимости от темы ОЭЧ):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 smtClean="0">
                <a:solidFill>
                  <a:srgbClr val="002060"/>
                </a:solidFill>
              </a:rPr>
              <a:t>ОТП </a:t>
            </a:r>
            <a:r>
              <a:rPr lang="ru-RU" sz="2400" b="1" dirty="0">
                <a:solidFill>
                  <a:srgbClr val="002060"/>
                </a:solidFill>
              </a:rPr>
              <a:t>(Обобщённый технический показатель);</a:t>
            </a:r>
            <a:endParaRPr lang="ru-RU" sz="2400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НТЭ (научно-технический эффект);</a:t>
            </a:r>
            <a:endParaRPr lang="ru-RU" sz="2400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Совокупность, порядок и </a:t>
            </a:r>
            <a:r>
              <a:rPr lang="ru-RU" sz="2400" b="1" dirty="0" smtClean="0">
                <a:solidFill>
                  <a:srgbClr val="002060"/>
                </a:solidFill>
              </a:rPr>
              <a:t>проектные сроки </a:t>
            </a:r>
            <a:r>
              <a:rPr lang="ru-RU" sz="2400" b="1" dirty="0">
                <a:solidFill>
                  <a:srgbClr val="002060"/>
                </a:solidFill>
              </a:rPr>
              <a:t>выполнения работ по разработке…….. </a:t>
            </a:r>
            <a:r>
              <a:rPr lang="en-US" sz="2400" b="1" dirty="0" smtClean="0">
                <a:solidFill>
                  <a:srgbClr val="002060"/>
                </a:solidFill>
              </a:rPr>
              <a:t>&lt;</a:t>
            </a:r>
            <a:r>
              <a:rPr lang="ru-RU" sz="2400" b="1" dirty="0" smtClean="0">
                <a:solidFill>
                  <a:srgbClr val="002060"/>
                </a:solidFill>
              </a:rPr>
              <a:t>тема ВКР</a:t>
            </a:r>
            <a:r>
              <a:rPr lang="en-US" sz="2400" b="1" dirty="0" smtClean="0">
                <a:solidFill>
                  <a:srgbClr val="002060"/>
                </a:solidFill>
              </a:rPr>
              <a:t>&gt;</a:t>
            </a:r>
            <a:endParaRPr lang="ru-RU" sz="2400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Состав и квалификационная категория исполнителей; </a:t>
            </a:r>
            <a:endParaRPr lang="ru-RU" sz="2400" dirty="0">
              <a:solidFill>
                <a:srgbClr val="00206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Затраты на проект.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34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611560" y="0"/>
            <a:ext cx="7920880" cy="908720"/>
          </a:xfrm>
        </p:spPr>
        <p:txBody>
          <a:bodyPr/>
          <a:lstStyle/>
          <a:p>
            <a:r>
              <a:rPr lang="ru-RU" sz="4000" b="1" dirty="0">
                <a:solidFill>
                  <a:srgbClr val="C00000"/>
                </a:solidFill>
              </a:rPr>
              <a:t>Критерии достижения </a:t>
            </a:r>
            <a:r>
              <a:rPr lang="ru-RU" sz="4000" b="1" dirty="0" smtClean="0">
                <a:solidFill>
                  <a:srgbClr val="C00000"/>
                </a:solidFill>
              </a:rPr>
              <a:t>цели</a:t>
            </a:r>
            <a:endParaRPr lang="ru-RU" sz="40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63090" y="836712"/>
            <a:ext cx="796935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 </a:t>
            </a:r>
            <a:r>
              <a:rPr lang="ru-RU" sz="2800" dirty="0" smtClean="0">
                <a:solidFill>
                  <a:srgbClr val="002060"/>
                </a:solidFill>
              </a:rPr>
              <a:t>1</a:t>
            </a:r>
            <a:r>
              <a:rPr lang="ru-RU" sz="2800" dirty="0">
                <a:solidFill>
                  <a:srgbClr val="002060"/>
                </a:solidFill>
              </a:rPr>
              <a:t>. </a:t>
            </a:r>
            <a:r>
              <a:rPr lang="ru-RU" sz="2800" dirty="0" smtClean="0">
                <a:solidFill>
                  <a:srgbClr val="002060"/>
                </a:solidFill>
              </a:rPr>
              <a:t>Обобщенный </a:t>
            </a:r>
            <a:r>
              <a:rPr lang="ru-RU" sz="2800" dirty="0">
                <a:solidFill>
                  <a:srgbClr val="002060"/>
                </a:solidFill>
              </a:rPr>
              <a:t>технический показатель </a:t>
            </a:r>
            <a:r>
              <a:rPr lang="ru-RU" sz="2800" dirty="0" smtClean="0">
                <a:solidFill>
                  <a:srgbClr val="002060"/>
                </a:solidFill>
              </a:rPr>
              <a:t>проектируемой разработки в сравнении с аналогами.</a:t>
            </a:r>
          </a:p>
          <a:p>
            <a:pPr algn="just"/>
            <a:r>
              <a:rPr lang="ru-RU" sz="2800" dirty="0" smtClean="0">
                <a:solidFill>
                  <a:srgbClr val="002060"/>
                </a:solidFill>
              </a:rPr>
              <a:t>2</a:t>
            </a:r>
            <a:r>
              <a:rPr lang="ru-RU" sz="2800" dirty="0">
                <a:solidFill>
                  <a:srgbClr val="002060"/>
                </a:solidFill>
              </a:rPr>
              <a:t>. </a:t>
            </a:r>
            <a:r>
              <a:rPr lang="ru-RU" sz="2800" dirty="0" smtClean="0">
                <a:solidFill>
                  <a:srgbClr val="002060"/>
                </a:solidFill>
              </a:rPr>
              <a:t>Научно-технический эффект проектируемой разработки в сравнении с аналогами.</a:t>
            </a:r>
          </a:p>
          <a:p>
            <a:pPr algn="just"/>
            <a:r>
              <a:rPr lang="ru-RU" sz="2800" dirty="0" smtClean="0">
                <a:solidFill>
                  <a:srgbClr val="002060"/>
                </a:solidFill>
              </a:rPr>
              <a:t>3. Сроки выполнения работ и оценка трудовых ресурсов.</a:t>
            </a:r>
          </a:p>
          <a:p>
            <a:pPr algn="just"/>
            <a:r>
              <a:rPr lang="ru-RU" sz="2800" dirty="0" smtClean="0">
                <a:solidFill>
                  <a:srgbClr val="002060"/>
                </a:solidFill>
              </a:rPr>
              <a:t>4. Смета затрат на выполнение работ.</a:t>
            </a:r>
          </a:p>
          <a:p>
            <a:pPr algn="just"/>
            <a:r>
              <a:rPr lang="ru-RU" sz="2800" dirty="0" smtClean="0">
                <a:solidFill>
                  <a:srgbClr val="002060"/>
                </a:solidFill>
              </a:rPr>
              <a:t>5. Вывод о целесообразности дальнейшей проведения </a:t>
            </a:r>
            <a:r>
              <a:rPr lang="ru-RU" sz="2800" dirty="0">
                <a:solidFill>
                  <a:srgbClr val="002060"/>
                </a:solidFill>
              </a:rPr>
              <a:t>НИОКР по разработке </a:t>
            </a:r>
            <a:r>
              <a:rPr lang="ru-RU" sz="2800" dirty="0" smtClean="0">
                <a:solidFill>
                  <a:srgbClr val="002060"/>
                </a:solidFill>
              </a:rPr>
              <a:t>и овеществлении проектируемой разработки по теме ВКР.</a:t>
            </a:r>
            <a:endParaRPr lang="ru-RU" sz="2800" dirty="0">
              <a:solidFill>
                <a:srgbClr val="002060"/>
              </a:solidFill>
            </a:endParaRPr>
          </a:p>
          <a:p>
            <a:endParaRPr lang="ru-RU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7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611560" y="-73434"/>
            <a:ext cx="7920880" cy="1052736"/>
          </a:xfrm>
        </p:spPr>
        <p:txBody>
          <a:bodyPr/>
          <a:lstStyle/>
          <a:p>
            <a:r>
              <a:rPr lang="ru-RU" b="1" dirty="0" smtClean="0">
                <a:solidFill>
                  <a:srgbClr val="C00000"/>
                </a:solidFill>
              </a:rPr>
              <a:t>Полный </a:t>
            </a:r>
            <a:r>
              <a:rPr lang="ru-RU" b="1" dirty="0">
                <a:solidFill>
                  <a:srgbClr val="C00000"/>
                </a:solidFill>
              </a:rPr>
              <a:t>комплекс работ по созданию и освоению новой техники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207069"/>
              </p:ext>
            </p:extLst>
          </p:nvPr>
        </p:nvGraphicFramePr>
        <p:xfrm>
          <a:off x="486662" y="979302"/>
          <a:ext cx="8170676" cy="3240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1778">
                  <a:extLst>
                    <a:ext uri="{9D8B030D-6E8A-4147-A177-3AD203B41FA5}">
                      <a16:colId xmlns:a16="http://schemas.microsoft.com/office/drawing/2014/main" val="3953030443"/>
                    </a:ext>
                  </a:extLst>
                </a:gridCol>
                <a:gridCol w="1300531">
                  <a:extLst>
                    <a:ext uri="{9D8B030D-6E8A-4147-A177-3AD203B41FA5}">
                      <a16:colId xmlns:a16="http://schemas.microsoft.com/office/drawing/2014/main" val="979005445"/>
                    </a:ext>
                  </a:extLst>
                </a:gridCol>
                <a:gridCol w="1164747">
                  <a:extLst>
                    <a:ext uri="{9D8B030D-6E8A-4147-A177-3AD203B41FA5}">
                      <a16:colId xmlns:a16="http://schemas.microsoft.com/office/drawing/2014/main" val="1643771039"/>
                    </a:ext>
                  </a:extLst>
                </a:gridCol>
                <a:gridCol w="1159765">
                  <a:extLst>
                    <a:ext uri="{9D8B030D-6E8A-4147-A177-3AD203B41FA5}">
                      <a16:colId xmlns:a16="http://schemas.microsoft.com/office/drawing/2014/main" val="3436045797"/>
                    </a:ext>
                  </a:extLst>
                </a:gridCol>
                <a:gridCol w="1169730">
                  <a:extLst>
                    <a:ext uri="{9D8B030D-6E8A-4147-A177-3AD203B41FA5}">
                      <a16:colId xmlns:a16="http://schemas.microsoft.com/office/drawing/2014/main" val="2896272631"/>
                    </a:ext>
                  </a:extLst>
                </a:gridCol>
                <a:gridCol w="2074125">
                  <a:extLst>
                    <a:ext uri="{9D8B030D-6E8A-4147-A177-3AD203B41FA5}">
                      <a16:colId xmlns:a16="http://schemas.microsoft.com/office/drawing/2014/main" val="2871229303"/>
                    </a:ext>
                  </a:extLst>
                </a:gridCol>
              </a:tblGrid>
              <a:tr h="121174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Научно-экспериментальная подготовка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Техническая подготовка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Промышленное освоение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5636844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НИР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ОКР</a:t>
                      </a:r>
                      <a:endParaRPr lang="ru-RU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КПП</a:t>
                      </a:r>
                      <a:endParaRPr lang="ru-RU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ТПП</a:t>
                      </a:r>
                      <a:endParaRPr lang="ru-RU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ОПП</a:t>
                      </a:r>
                      <a:endParaRPr lang="ru-RU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ОСП</a:t>
                      </a:r>
                      <a:endParaRPr lang="ru-RU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5298158"/>
                  </a:ext>
                </a:extLst>
              </a:tr>
              <a:tr h="7633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2667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отработка нового изделия в опытном производстве (ООП);</a:t>
                      </a:r>
                      <a:endParaRPr lang="ru-RU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928948"/>
                  </a:ext>
                </a:extLst>
              </a:tr>
              <a:tr h="717168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Экономическая проработка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7723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74326" y="1916832"/>
            <a:ext cx="10409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51520" y="4077072"/>
            <a:ext cx="864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НИР </a:t>
            </a: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научно-исследовательские работы; </a:t>
            </a:r>
            <a:endParaRPr lang="ru-RU" sz="2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ОКР – опытно-конструкторские работы; 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КПП – конструкторская подготовка производства; 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ТПП – технологическая подготовка производства;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ОПП – организационная подготовка производства;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ООП – отработка </a:t>
            </a:r>
            <a:r>
              <a:rPr lang="ru-RU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нового изделия в опытном </a:t>
            </a: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производстве;</a:t>
            </a:r>
            <a:endParaRPr lang="ru-RU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ОСП – освоение </a:t>
            </a:r>
            <a:r>
              <a:rPr lang="ru-RU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нового изделия в промышленном </a:t>
            </a:r>
            <a:r>
              <a:rPr lang="ru-RU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производстве. </a:t>
            </a:r>
            <a:endParaRPr lang="ru-RU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74326" y="1916832"/>
            <a:ext cx="10409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738690" y="1124744"/>
            <a:ext cx="802666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3600" b="1" dirty="0" smtClean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 1</a:t>
            </a:r>
          </a:p>
          <a:p>
            <a:pPr>
              <a:spcAft>
                <a:spcPts val="0"/>
              </a:spcAft>
            </a:pPr>
            <a:endParaRPr lang="ru-RU" sz="3200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Тема ВКР , в соответствии с Заданием на ВКР, представляет собой совокупность этапов (или фрагментов) жизненного цикла инноваций </a:t>
            </a:r>
          </a:p>
          <a:p>
            <a:pPr algn="just">
              <a:spcAft>
                <a:spcPts val="0"/>
              </a:spcAft>
            </a:pPr>
            <a:r>
              <a:rPr lang="ru-RU" sz="3200" dirty="0" smtClean="0">
                <a:solidFill>
                  <a:srgbClr val="00206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См. материалы дисциплины </a:t>
            </a:r>
          </a:p>
          <a:p>
            <a:pPr algn="just">
              <a:spcAft>
                <a:spcPts val="0"/>
              </a:spcAft>
            </a:pPr>
            <a:r>
              <a:rPr lang="ru-RU" sz="3200" dirty="0" smtClean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Планирование и организация производства</a:t>
            </a:r>
            <a:endParaRPr lang="ru-RU" sz="3200" dirty="0">
              <a:solidFill>
                <a:srgbClr val="C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46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5820" y="0"/>
            <a:ext cx="7772400" cy="1296143"/>
          </a:xfrm>
        </p:spPr>
        <p:txBody>
          <a:bodyPr rtlCol="0"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74326" y="1916832"/>
            <a:ext cx="10409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4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8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403648" y="0"/>
            <a:ext cx="6400800" cy="908720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Темы ОЭЧ</a:t>
            </a:r>
            <a:endParaRPr lang="ru-RU" sz="40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85800" y="1844824"/>
            <a:ext cx="7846640" cy="92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ru-RU" sz="3200" dirty="0">
              <a:solidFill>
                <a:srgbClr val="002060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57326"/>
              </p:ext>
            </p:extLst>
          </p:nvPr>
        </p:nvGraphicFramePr>
        <p:xfrm>
          <a:off x="538916" y="692696"/>
          <a:ext cx="8137539" cy="53265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876">
                  <a:extLst>
                    <a:ext uri="{9D8B030D-6E8A-4147-A177-3AD203B41FA5}">
                      <a16:colId xmlns:a16="http://schemas.microsoft.com/office/drawing/2014/main" val="489773719"/>
                    </a:ext>
                  </a:extLst>
                </a:gridCol>
                <a:gridCol w="3263861">
                  <a:extLst>
                    <a:ext uri="{9D8B030D-6E8A-4147-A177-3AD203B41FA5}">
                      <a16:colId xmlns:a16="http://schemas.microsoft.com/office/drawing/2014/main" val="1944033566"/>
                    </a:ext>
                  </a:extLst>
                </a:gridCol>
                <a:gridCol w="2712802">
                  <a:extLst>
                    <a:ext uri="{9D8B030D-6E8A-4147-A177-3AD203B41FA5}">
                      <a16:colId xmlns:a16="http://schemas.microsoft.com/office/drawing/2014/main" val="3101541736"/>
                    </a:ext>
                  </a:extLst>
                </a:gridCol>
              </a:tblGrid>
              <a:tr h="408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Тема ОЭЧ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Содержание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Графическая часть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879024"/>
                  </a:ext>
                </a:extLst>
              </a:tr>
              <a:tr h="491764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Тема </a:t>
                      </a:r>
                      <a:r>
                        <a:rPr lang="ru-RU" sz="2000" dirty="0" smtClean="0">
                          <a:effectLst/>
                        </a:rPr>
                        <a:t>1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Выбор варианта модернизации изделия  на основе расчета обобщающих показателей качества (показателей конкурентоспособности)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Описание сравниваемых (</a:t>
                      </a:r>
                      <a:r>
                        <a:rPr lang="ru-RU" sz="2000" b="1" dirty="0">
                          <a:effectLst/>
                        </a:rPr>
                        <a:t>альтернативных) вариантов </a:t>
                      </a:r>
                      <a:r>
                        <a:rPr lang="ru-RU" sz="2000" dirty="0">
                          <a:effectLst/>
                        </a:rPr>
                        <a:t>модернизации изделия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Выбор базового устройства (аналога)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Отбор </a:t>
                      </a:r>
                      <a:r>
                        <a:rPr lang="ru-RU" sz="2000" b="1" dirty="0">
                          <a:effectLst/>
                        </a:rPr>
                        <a:t>существенных характеристик и определение их значимости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Расчет обобщающих показателей качества альтернативных вариантов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Рекомендации по варианту модернизации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1.Таблица, отражающая показатели, использованные для оценки, их значимость, численное значение для базового и альтернативных </a:t>
                      </a:r>
                      <a:r>
                        <a:rPr lang="ru-RU" sz="2000" dirty="0" smtClean="0">
                          <a:effectLst/>
                        </a:rPr>
                        <a:t>вариантов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 Критерий выбора лучшего варианта из возможных, значения для альтернативных вариантов.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0374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9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2663" y="14367"/>
            <a:ext cx="8229600" cy="750337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Темы ОЭЧ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407091"/>
              </p:ext>
            </p:extLst>
          </p:nvPr>
        </p:nvGraphicFramePr>
        <p:xfrm>
          <a:off x="683567" y="980728"/>
          <a:ext cx="8108696" cy="5544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2322">
                  <a:extLst>
                    <a:ext uri="{9D8B030D-6E8A-4147-A177-3AD203B41FA5}">
                      <a16:colId xmlns:a16="http://schemas.microsoft.com/office/drawing/2014/main" val="193542800"/>
                    </a:ext>
                  </a:extLst>
                </a:gridCol>
                <a:gridCol w="2703187">
                  <a:extLst>
                    <a:ext uri="{9D8B030D-6E8A-4147-A177-3AD203B41FA5}">
                      <a16:colId xmlns:a16="http://schemas.microsoft.com/office/drawing/2014/main" val="2828875353"/>
                    </a:ext>
                  </a:extLst>
                </a:gridCol>
                <a:gridCol w="2703187">
                  <a:extLst>
                    <a:ext uri="{9D8B030D-6E8A-4147-A177-3AD203B41FA5}">
                      <a16:colId xmlns:a16="http://schemas.microsoft.com/office/drawing/2014/main" val="984088706"/>
                    </a:ext>
                  </a:extLst>
                </a:gridCol>
              </a:tblGrid>
              <a:tr h="5645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Тема ОЭЧ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Содержание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Графическая часть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7624315"/>
                  </a:ext>
                </a:extLst>
              </a:tr>
              <a:tr h="49800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Тема 2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ru-RU" sz="200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</a:rPr>
                        <a:t>Выбор </a:t>
                      </a:r>
                      <a:r>
                        <a:rPr lang="ru-RU" sz="2000" dirty="0">
                          <a:effectLst/>
                        </a:rPr>
                        <a:t>варианта модернизации на основе проведения функционально-стоимостного анализа (ФСА)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268288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Описание изделия и задач модернизации</a:t>
                      </a:r>
                    </a:p>
                    <a:p>
                      <a:pPr marL="0" indent="268288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Построение функционально-структурной модели изделия</a:t>
                      </a:r>
                    </a:p>
                    <a:p>
                      <a:pPr marL="0" indent="268288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Определение значимости функций и определение затрат на их исполнение</a:t>
                      </a:r>
                    </a:p>
                    <a:p>
                      <a:pPr marL="0" indent="268288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Выявление «точек рассогласования» и вариантов их устранения</a:t>
                      </a:r>
                    </a:p>
                    <a:p>
                      <a:pPr marL="0" indent="268288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Выбор варианта модернизации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None/>
                      </a:pPr>
                      <a:r>
                        <a:rPr lang="ru-RU" sz="2000" dirty="0" smtClean="0">
                          <a:effectLst/>
                        </a:rPr>
                        <a:t>1. Функционально-структурная </a:t>
                      </a:r>
                      <a:r>
                        <a:rPr lang="ru-RU" sz="2000" dirty="0">
                          <a:effectLst/>
                        </a:rPr>
                        <a:t>схема </a:t>
                      </a:r>
                      <a:r>
                        <a:rPr lang="ru-RU" sz="2000" dirty="0" smtClean="0">
                          <a:effectLst/>
                        </a:rPr>
                        <a:t>изделия</a:t>
                      </a:r>
                    </a:p>
                    <a:p>
                      <a:pPr marL="457200" indent="-457200">
                        <a:spcAft>
                          <a:spcPts val="0"/>
                        </a:spcAft>
                        <a:buAutoNum type="arabicPeriod"/>
                      </a:pPr>
                      <a:endParaRPr lang="ru-RU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 Функционально-стоимостная гистограмма с указанием «точек рассогласования</a:t>
                      </a:r>
                      <a:r>
                        <a:rPr lang="ru-RU" sz="2000" dirty="0" smtClean="0">
                          <a:effectLst/>
                        </a:rPr>
                        <a:t>»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ru-RU" sz="200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</a:rPr>
                        <a:t>3</a:t>
                      </a:r>
                      <a:r>
                        <a:rPr lang="ru-RU" sz="2000" dirty="0">
                          <a:effectLst/>
                        </a:rPr>
                        <a:t>. Морфологическая матрица вариантов реализации </a:t>
                      </a:r>
                      <a:r>
                        <a:rPr lang="ru-RU" sz="2000" dirty="0" smtClean="0">
                          <a:effectLst/>
                        </a:rPr>
                        <a:t>функций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3051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4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7" y="-387423"/>
            <a:ext cx="8108695" cy="1080120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Темы ОЭЧ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037730"/>
              </p:ext>
            </p:extLst>
          </p:nvPr>
        </p:nvGraphicFramePr>
        <p:xfrm>
          <a:off x="169452" y="364045"/>
          <a:ext cx="8964489" cy="6873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7664">
                  <a:extLst>
                    <a:ext uri="{9D8B030D-6E8A-4147-A177-3AD203B41FA5}">
                      <a16:colId xmlns:a16="http://schemas.microsoft.com/office/drawing/2014/main" val="3561838312"/>
                    </a:ext>
                  </a:extLst>
                </a:gridCol>
                <a:gridCol w="5026294">
                  <a:extLst>
                    <a:ext uri="{9D8B030D-6E8A-4147-A177-3AD203B41FA5}">
                      <a16:colId xmlns:a16="http://schemas.microsoft.com/office/drawing/2014/main" val="2517822883"/>
                    </a:ext>
                  </a:extLst>
                </a:gridCol>
                <a:gridCol w="2390531">
                  <a:extLst>
                    <a:ext uri="{9D8B030D-6E8A-4147-A177-3AD203B41FA5}">
                      <a16:colId xmlns:a16="http://schemas.microsoft.com/office/drawing/2014/main" val="3903043360"/>
                    </a:ext>
                  </a:extLst>
                </a:gridCol>
              </a:tblGrid>
              <a:tr h="2341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Тема ОЭЧ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525" marR="585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Содержание</a:t>
                      </a:r>
                      <a:endParaRPr lang="ru-RU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525" marR="585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effectLst/>
                        </a:rPr>
                        <a:t>Графическая часть</a:t>
                      </a:r>
                      <a:endParaRPr lang="ru-RU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525" marR="58525" marT="0" marB="0"/>
                </a:tc>
                <a:extLst>
                  <a:ext uri="{0D108BD9-81ED-4DB2-BD59-A6C34878D82A}">
                    <a16:rowId xmlns:a16="http://schemas.microsoft.com/office/drawing/2014/main" val="727154150"/>
                  </a:ext>
                </a:extLst>
              </a:tr>
              <a:tr h="429186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Тема 3</a:t>
                      </a:r>
                    </a:p>
                    <a:p>
                      <a:pPr algn="l" defTabSz="1438275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Расчет экономической эффективности проектируемого технического устройства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525" marR="5852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Цель модернизации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Выбор базового устройства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Описание технических преимуществ проектируемого устройства по сравнению с аналогом и предполагаемыми изменениями экономических показателей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Определение сферы получения экономического и др. эффектов: производство или эксплуатация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Укрупненный расчет или прогнозирование капитальных затрат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Расчет себестоимости проектируемого устройства и определение его цены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Определение эксплуатационных издержек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Расчет экономического эффекта и показателей сравнительной экономической эффективности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525" marR="5852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1. Таблица технико-экономических показателей проектируемого устройства и его аналога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effectLst/>
                        </a:rPr>
                        <a:t>2. Результаты расчетов показателей, характеризующих экономическую эффективность разработки (в виде таблицы, графиков, диаграмм или гистограмм)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8525" marR="58525" marT="0" marB="0"/>
                </a:tc>
                <a:extLst>
                  <a:ext uri="{0D108BD9-81ED-4DB2-BD59-A6C34878D82A}">
                    <a16:rowId xmlns:a16="http://schemas.microsoft.com/office/drawing/2014/main" val="57363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02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2663" y="14367"/>
            <a:ext cx="8229600" cy="678329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Темы ОЭЧ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25</a:t>
            </a:fld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808179"/>
              </p:ext>
            </p:extLst>
          </p:nvPr>
        </p:nvGraphicFramePr>
        <p:xfrm>
          <a:off x="107505" y="692696"/>
          <a:ext cx="9036496" cy="583264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973366">
                  <a:extLst>
                    <a:ext uri="{9D8B030D-6E8A-4147-A177-3AD203B41FA5}">
                      <a16:colId xmlns:a16="http://schemas.microsoft.com/office/drawing/2014/main" val="1588839081"/>
                    </a:ext>
                  </a:extLst>
                </a:gridCol>
                <a:gridCol w="4649669">
                  <a:extLst>
                    <a:ext uri="{9D8B030D-6E8A-4147-A177-3AD203B41FA5}">
                      <a16:colId xmlns:a16="http://schemas.microsoft.com/office/drawing/2014/main" val="888911172"/>
                    </a:ext>
                  </a:extLst>
                </a:gridCol>
                <a:gridCol w="2413461">
                  <a:extLst>
                    <a:ext uri="{9D8B030D-6E8A-4147-A177-3AD203B41FA5}">
                      <a16:colId xmlns:a16="http://schemas.microsoft.com/office/drawing/2014/main" val="685024373"/>
                    </a:ext>
                  </a:extLst>
                </a:gridCol>
              </a:tblGrid>
              <a:tr h="583264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Тема </a:t>
                      </a:r>
                      <a:r>
                        <a:rPr lang="ru-RU" sz="2000" dirty="0" smtClean="0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Организация и планирование проведения НИОКР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2060"/>
                          </a:solidFill>
                          <a:effectLst/>
                        </a:rPr>
                        <a:t>Описание цели и вариантов проведения НИОКР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2060"/>
                          </a:solidFill>
                          <a:effectLst/>
                        </a:rPr>
                        <a:t>Определение стадий и этапов НИОКР по вариантам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2060"/>
                          </a:solidFill>
                          <a:effectLst/>
                        </a:rPr>
                        <a:t>Определение трудоемкости и продолжительности этапов по вариантам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2060"/>
                          </a:solidFill>
                          <a:effectLst/>
                        </a:rPr>
                        <a:t>Составление план-графика по вариантам выполнения НИОКР и его оптимизация 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2060"/>
                          </a:solidFill>
                          <a:effectLst/>
                        </a:rPr>
                        <a:t>Расчет затрат на выполнение НИОКР по вариантам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2060"/>
                          </a:solidFill>
                          <a:effectLst/>
                        </a:rPr>
                        <a:t>Определение </a:t>
                      </a:r>
                      <a:r>
                        <a:rPr lang="ru-RU" sz="2000" b="0" dirty="0" smtClean="0">
                          <a:solidFill>
                            <a:srgbClr val="002060"/>
                          </a:solidFill>
                          <a:effectLst/>
                        </a:rPr>
                        <a:t>эффективности НИОКР</a:t>
                      </a:r>
                      <a:endParaRPr lang="ru-RU" sz="2000" b="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ru-RU" sz="2000" dirty="0" smtClean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ru-RU" sz="2000" dirty="0" smtClean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2000" dirty="0" smtClean="0">
                          <a:solidFill>
                            <a:srgbClr val="002060"/>
                          </a:solidFill>
                          <a:effectLst/>
                        </a:rPr>
                        <a:t>1.Таблица </a:t>
                      </a: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технико-экономических показателей </a:t>
                      </a:r>
                      <a:r>
                        <a:rPr lang="ru-RU" sz="2000" dirty="0" smtClean="0">
                          <a:solidFill>
                            <a:srgbClr val="002060"/>
                          </a:solidFill>
                          <a:effectLst/>
                        </a:rPr>
                        <a:t>НИОКР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spcAft>
                          <a:spcPts val="0"/>
                        </a:spcAft>
                        <a:buAutoNum type="arabicPeriod"/>
                      </a:pPr>
                      <a:endParaRPr lang="ru-RU" sz="2000" dirty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2. График нарастания затрат и диаграммы (гистограммы) структуры затрат по </a:t>
                      </a:r>
                      <a:r>
                        <a:rPr lang="ru-RU" sz="2000" dirty="0" smtClean="0">
                          <a:solidFill>
                            <a:srgbClr val="002060"/>
                          </a:solidFill>
                          <a:effectLst/>
                        </a:rPr>
                        <a:t>НИОКР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2060"/>
                          </a:solidFill>
                          <a:effectLst/>
                        </a:rPr>
                        <a:t>3. Ленточный или сетевой график выполнения НИОКР</a:t>
                      </a:r>
                      <a:endParaRPr lang="ru-RU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135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9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331640" y="347958"/>
            <a:ext cx="6400800" cy="980728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Источники информации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9592" y="1844824"/>
            <a:ext cx="7558608" cy="92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1560" y="1340768"/>
            <a:ext cx="8536904" cy="5118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Практикум по организации и планированию машиностроительного производства. Производственный менеджмент: Е.В. Алексеева, В.М. Воронин, К.А. Грачева и др.; Под. Ред. Ю.В. Скворцова. – 2-е изд., </a:t>
            </a:r>
            <a:r>
              <a:rPr lang="ru-RU" sz="22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испр</a:t>
            </a: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– М.: </a:t>
            </a:r>
            <a:r>
              <a:rPr lang="ru-RU" sz="22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Высш</a:t>
            </a: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Шк</a:t>
            </a: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., 2008. – 431 </a:t>
            </a:r>
            <a:r>
              <a:rPr lang="ru-RU" sz="22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с.:ил</a:t>
            </a: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ISBN 978-5-06-005956-4</a:t>
            </a:r>
            <a:r>
              <a:rPr lang="ru-RU" sz="22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endParaRPr lang="ru-RU" sz="22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Организация и планирование машиностроительного производства (производственный менеджмент): Учебник / Л.А. Некрасов, Е.С. Постникова, Ю.В. Скворцов, Т.В. Уханова; под ред. Ю.В. Скворцова. — М.: Студент, 2016. — 415 с: ил. ISBN 978-5-4363-0054-2</a:t>
            </a:r>
            <a:r>
              <a:rPr lang="ru-RU" sz="20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16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403648" y="260648"/>
            <a:ext cx="6400800" cy="980728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Источники информации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9592" y="1844824"/>
            <a:ext cx="7558608" cy="92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3395" y="980728"/>
            <a:ext cx="8637004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ru-RU" sz="22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4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Организация</a:t>
            </a:r>
            <a:r>
              <a:rPr lang="ru-RU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планирование приборостроительного производства и управления предприятием: Учебник для студентов приборостроительных специальностей вузов / В.А. Петров, Л.П. Беликова, Э.В. Минько и др.; Под общ. ред. В.А. Петрова. – Л.; Машиностроение. Ленингр. </a:t>
            </a:r>
            <a:r>
              <a:rPr lang="ru-RU" sz="24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Отд-ние</a:t>
            </a:r>
            <a:r>
              <a:rPr lang="ru-RU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1987. – 424 с.: ил</a:t>
            </a:r>
            <a:r>
              <a:rPr lang="ru-RU" sz="24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400" dirty="0" smtClean="0">
              <a:solidFill>
                <a:srgbClr val="00206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4. Экономика </a:t>
            </a:r>
            <a:r>
              <a:rPr lang="ru-RU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предприятия: учебник / А.П. Аксенов, И.Э. </a:t>
            </a:r>
            <a:r>
              <a:rPr lang="ru-RU" sz="24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Берзинь</a:t>
            </a:r>
            <a:r>
              <a:rPr lang="ru-RU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Н.Ю. Иванова [и др.]; под ред. С.Г. Фалько. – М.: КНОРУС, 2011. – 352 с. – ISBN 978-5-406-00564-4. </a:t>
            </a:r>
            <a:endParaRPr lang="ru-RU" sz="2400" dirty="0" smtClean="0">
              <a:solidFill>
                <a:srgbClr val="00206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200" dirty="0">
              <a:solidFill>
                <a:srgbClr val="00206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26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403648" y="260648"/>
            <a:ext cx="6400800" cy="980728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Источники информации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9592" y="1844824"/>
            <a:ext cx="7558608" cy="92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71616" y="1244967"/>
            <a:ext cx="8264863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ru-RU" sz="24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5.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Скворцов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Ю.В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. Организационно-экономические вопросы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в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дипломном проектировании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: Учеб. пособие. - 2-е изд., </a:t>
            </a:r>
            <a:r>
              <a:rPr lang="ru-RU" sz="2400" dirty="0" err="1">
                <a:solidFill>
                  <a:srgbClr val="002060"/>
                </a:solidFill>
                <a:latin typeface="+mn-lt"/>
              </a:rPr>
              <a:t>перераб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.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И доп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. – М.: Студент, 2012. – 374 с.: ил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. ISBN 978-5-4363-0014-6</a:t>
            </a:r>
          </a:p>
          <a:p>
            <a:pPr lvl="0" algn="just">
              <a:spcAft>
                <a:spcPts val="0"/>
              </a:spcAft>
            </a:pPr>
            <a:endParaRPr lang="ru-RU" sz="2400" dirty="0">
              <a:solidFill>
                <a:srgbClr val="002060"/>
              </a:solidFill>
              <a:latin typeface="+mn-lt"/>
            </a:endParaRPr>
          </a:p>
          <a:p>
            <a:r>
              <a:rPr lang="ru-RU" dirty="0" smtClean="0"/>
              <a:t>6.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Иванова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Н.Ю., Савченко Н.Н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. Организация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и планирование проведения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НИОКР. Методические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указания по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разработке организационно-экономической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части дипломных проектов исследовательского и конструкторского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профиля. Под </a:t>
            </a:r>
            <a:r>
              <a:rPr lang="ru-RU" sz="2400" dirty="0">
                <a:solidFill>
                  <a:srgbClr val="002060"/>
                </a:solidFill>
                <a:latin typeface="+mn-lt"/>
              </a:rPr>
              <a:t>ред. С.Г. </a:t>
            </a:r>
            <a:r>
              <a:rPr lang="ru-RU" sz="2400" dirty="0" smtClean="0">
                <a:solidFill>
                  <a:srgbClr val="002060"/>
                </a:solidFill>
                <a:latin typeface="+mn-lt"/>
              </a:rPr>
              <a:t>Фалько</a:t>
            </a:r>
            <a:endParaRPr lang="ru-RU" sz="2200" dirty="0">
              <a:solidFill>
                <a:srgbClr val="002060"/>
              </a:solidFill>
              <a:latin typeface="+mn-lt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200" dirty="0">
              <a:solidFill>
                <a:srgbClr val="00206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12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403648" y="0"/>
            <a:ext cx="6400800" cy="1124744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Источники информации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9592" y="1844824"/>
            <a:ext cx="7558608" cy="92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7504" y="692696"/>
            <a:ext cx="8424936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ru-RU" sz="22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7. Оценка </a:t>
            </a: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трудоемкости и стоимости научно-исследовательских и опытно-конструкторских работ по разработке комплекса вооружения</a:t>
            </a:r>
            <a:r>
              <a:rPr lang="ru-RU" sz="22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: </a:t>
            </a:r>
            <a:r>
              <a:rPr lang="ru-RU" sz="22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учебное пособие /[В. М. Кашин и др.] — Москва: Издательство МГТУ им. Н. Э. Баумана, 2019. — 105, [3] с.: ил. ISBN 978-5-7038-5227-9</a:t>
            </a:r>
            <a:r>
              <a:rPr lang="ru-RU" sz="2200" dirty="0" smtClean="0">
                <a:solidFill>
                  <a:srgbClr val="002060"/>
                </a:solidFill>
                <a:latin typeface="+mn-lt"/>
                <a:ea typeface="Calibri" panose="020F0502020204030204" pitchFamily="34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200" dirty="0" smtClean="0">
              <a:solidFill>
                <a:srgbClr val="002060"/>
              </a:solidFill>
              <a:latin typeface="+mn-lt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ru-RU" sz="2200" dirty="0" smtClean="0">
                <a:solidFill>
                  <a:srgbClr val="002060"/>
                </a:solidFill>
                <a:effectLst/>
                <a:latin typeface="+mn-lt"/>
                <a:ea typeface="Calibri" panose="020F0502020204030204" pitchFamily="34" charset="0"/>
              </a:rPr>
              <a:t>8. 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Квалификационный справочник должностей руководителей, специалистов и других служащих 4-е издание, дополненное (утв. постановлением Минтруда РФ от 21 августа 1998 г. N 37) (с изменениями и дополнениями) С изменениями и дополнениями от:  27 марта 2018 г.</a:t>
            </a:r>
            <a:r>
              <a:rPr lang="ru-RU" sz="2200" i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ru-RU" sz="2200" b="1" i="1" dirty="0">
                <a:solidFill>
                  <a:srgbClr val="002060"/>
                </a:solidFill>
                <a:latin typeface="+mn-lt"/>
                <a:hlinkClick r:id="rId3"/>
              </a:rPr>
              <a:t>http://base.garant.ru/180422/#ixzz5Yusg0lWq</a:t>
            </a:r>
            <a:endParaRPr lang="ru-RU" sz="2200" dirty="0">
              <a:solidFill>
                <a:srgbClr val="00206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200" dirty="0" smtClean="0">
              <a:solidFill>
                <a:srgbClr val="002060"/>
              </a:solidFill>
              <a:latin typeface="+mn-lt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000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solidFill>
                <a:srgbClr val="000000"/>
              </a:solidFill>
              <a:effectLst/>
              <a:latin typeface="Tahoma" panose="020B060403050404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83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94930"/>
            <a:ext cx="8229600" cy="1008112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Литература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z="2000" smtClean="0"/>
              <a:pPr>
                <a:defRPr/>
              </a:pPr>
              <a:t>30</a:t>
            </a:fld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692696"/>
            <a:ext cx="806939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buFont typeface="+mj-lt"/>
              <a:buAutoNum type="arabicPeriod"/>
            </a:pPr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Соболевская 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А.А., Попов А.К. Постиндустриальная революция в сфере труда. – М.: ИМЭМО РАН, 2009. – 205 </a:t>
            </a:r>
            <a:r>
              <a:rPr lang="en-US" sz="2800" dirty="0">
                <a:solidFill>
                  <a:srgbClr val="002060"/>
                </a:solidFill>
                <a:latin typeface="+mn-lt"/>
              </a:rPr>
              <a:t>c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.</a:t>
            </a:r>
          </a:p>
          <a:p>
            <a:pPr lvl="1" indent="-457200">
              <a:buFont typeface="+mj-lt"/>
              <a:buAutoNum type="arabicPeriod"/>
            </a:pPr>
            <a:r>
              <a:rPr lang="ru-RU" sz="2800" dirty="0">
                <a:solidFill>
                  <a:srgbClr val="002060"/>
                </a:solidFill>
                <a:latin typeface="+mn-lt"/>
              </a:rPr>
              <a:t>Савельева Е.А. Цифровая организация труда: направления, принципы, подходы // Экономика труда. – 2018. – Том 5. – № 4. – С. 935 – 950. </a:t>
            </a:r>
            <a:r>
              <a:rPr lang="ru-RU" sz="2800" dirty="0" err="1">
                <a:solidFill>
                  <a:srgbClr val="002060"/>
                </a:solidFill>
                <a:latin typeface="+mn-lt"/>
              </a:rPr>
              <a:t>doi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: 10.18334/et.5.4.39642</a:t>
            </a:r>
          </a:p>
          <a:p>
            <a:pPr lvl="1" indent="-457200">
              <a:buFont typeface="+mj-lt"/>
              <a:buAutoNum type="arabicPeriod"/>
            </a:pPr>
            <a:r>
              <a:rPr lang="ru-RU" sz="2800" dirty="0">
                <a:solidFill>
                  <a:srgbClr val="002060"/>
                </a:solidFill>
                <a:latin typeface="+mn-lt"/>
              </a:rPr>
              <a:t>Тихомирова Т. П. Организация, нормирование и оплата труда на предприятии [Текст]: учеб. пособие / Т. П. Тихомирова, Е. И. </a:t>
            </a:r>
            <a:r>
              <a:rPr lang="ru-RU" sz="2800" dirty="0" err="1">
                <a:solidFill>
                  <a:srgbClr val="002060"/>
                </a:solidFill>
                <a:latin typeface="+mn-lt"/>
              </a:rPr>
              <a:t>Чучкалова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. – Екатеринбург: Изд-во ГОУ ВПО «</a:t>
            </a:r>
            <a:r>
              <a:rPr lang="ru-RU" sz="2800" dirty="0" err="1">
                <a:solidFill>
                  <a:srgbClr val="002060"/>
                </a:solidFill>
                <a:latin typeface="+mn-lt"/>
              </a:rPr>
              <a:t>Рос.гос.проф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.-</a:t>
            </a:r>
            <a:r>
              <a:rPr lang="ru-RU" sz="2800" dirty="0" err="1">
                <a:solidFill>
                  <a:srgbClr val="002060"/>
                </a:solidFill>
                <a:latin typeface="+mn-lt"/>
              </a:rPr>
              <a:t>пед.ун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-т», 2008. – 185 с. ISBN </a:t>
            </a:r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978-5-8050-0339-5</a:t>
            </a:r>
            <a:endParaRPr lang="ru-RU" sz="28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604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94930"/>
            <a:ext cx="8229600" cy="1008112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Итог: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z="2000" smtClean="0"/>
              <a:pPr>
                <a:defRPr/>
              </a:pPr>
              <a:t>31</a:t>
            </a:fld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404664"/>
            <a:ext cx="8435280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Положение о порядке проведения государственной итоговой аттестации по образовательным программам высшего образования – программам бакалавриата, программам </a:t>
            </a:r>
            <a:r>
              <a:rPr lang="ru-RU" b="1" dirty="0" err="1">
                <a:solidFill>
                  <a:srgbClr val="002060"/>
                </a:solidFill>
              </a:rPr>
              <a:t>специалитета</a:t>
            </a:r>
            <a:r>
              <a:rPr lang="ru-RU" b="1" dirty="0">
                <a:solidFill>
                  <a:srgbClr val="002060"/>
                </a:solidFill>
              </a:rPr>
              <a:t> и программам магистратуры МГТУ им. Н</a:t>
            </a:r>
            <a:r>
              <a:rPr lang="ru-RU" b="1" dirty="0" smtClean="0">
                <a:solidFill>
                  <a:srgbClr val="002060"/>
                </a:solidFill>
              </a:rPr>
              <a:t>. Э. Баумана </a:t>
            </a:r>
            <a:r>
              <a:rPr lang="ru-RU" b="1" dirty="0">
                <a:solidFill>
                  <a:srgbClr val="002060"/>
                </a:solidFill>
              </a:rPr>
              <a:t>от 15 апреля 2019 г</a:t>
            </a:r>
            <a:r>
              <a:rPr lang="ru-RU" b="1" dirty="0" smtClean="0">
                <a:solidFill>
                  <a:srgbClr val="002060"/>
                </a:solidFill>
              </a:rPr>
              <a:t>.</a:t>
            </a:r>
          </a:p>
          <a:p>
            <a:endParaRPr lang="ru-RU" b="1" dirty="0" smtClean="0"/>
          </a:p>
          <a:p>
            <a:r>
              <a:rPr lang="ru-RU" sz="2800" dirty="0">
                <a:solidFill>
                  <a:srgbClr val="002060"/>
                </a:solidFill>
                <a:latin typeface="+mn-lt"/>
              </a:rPr>
              <a:t>3.12. Решения, принятые комиссиями, оформляются протоколами.</a:t>
            </a:r>
          </a:p>
          <a:p>
            <a:r>
              <a:rPr lang="ru-RU" sz="2800" dirty="0">
                <a:solidFill>
                  <a:srgbClr val="002060"/>
                </a:solidFill>
                <a:latin typeface="+mn-lt"/>
              </a:rPr>
              <a:t>В протоколе заседания ГЭК по приему государственного аттестационного испытания отражаются перечень заданных обучающемуся вопросов и характеристика ответов на них, мнения председателя и членов ГЭК о выявленном в ходе государственного аттестационного испытания уровне подготовленности обучающегося к решению профессиональных задач, а также </a:t>
            </a:r>
            <a:r>
              <a:rPr lang="ru-RU" sz="2800" i="1" dirty="0">
                <a:solidFill>
                  <a:srgbClr val="002060"/>
                </a:solidFill>
                <a:latin typeface="+mn-lt"/>
              </a:rPr>
              <a:t>об уровне </a:t>
            </a:r>
            <a:r>
              <a:rPr lang="ru-RU" sz="2800" i="1" dirty="0" err="1">
                <a:solidFill>
                  <a:srgbClr val="002060"/>
                </a:solidFill>
                <a:latin typeface="+mn-lt"/>
              </a:rPr>
              <a:t>сформированности</a:t>
            </a:r>
            <a:r>
              <a:rPr lang="ru-RU" sz="2800" i="1" dirty="0">
                <a:solidFill>
                  <a:srgbClr val="002060"/>
                </a:solidFill>
                <a:latin typeface="+mn-lt"/>
              </a:rPr>
              <a:t> компетенций обучающегося</a:t>
            </a:r>
            <a:r>
              <a:rPr lang="ru-RU" sz="2800" i="1" dirty="0" smtClean="0">
                <a:solidFill>
                  <a:srgbClr val="002060"/>
                </a:solidFill>
                <a:latin typeface="+mn-lt"/>
              </a:rPr>
              <a:t>.</a:t>
            </a:r>
            <a:r>
              <a:rPr lang="ru-RU" dirty="0"/>
              <a:t> 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5713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dirty="0" smtClean="0">
                <a:solidFill>
                  <a:srgbClr val="002060"/>
                </a:solidFill>
              </a:rPr>
              <a:t/>
            </a:r>
            <a:br>
              <a:rPr lang="ru-RU" sz="1800" b="1" dirty="0" smtClean="0">
                <a:solidFill>
                  <a:srgbClr val="002060"/>
                </a:solidFill>
              </a:rPr>
            </a:br>
            <a:r>
              <a:rPr lang="ru-RU" sz="1800" b="1" dirty="0">
                <a:solidFill>
                  <a:srgbClr val="002060"/>
                </a:solidFill>
              </a:rPr>
              <a:t/>
            </a:r>
            <a:br>
              <a:rPr lang="ru-RU" sz="1800" b="1" dirty="0">
                <a:solidFill>
                  <a:srgbClr val="002060"/>
                </a:solidFill>
              </a:rPr>
            </a:br>
            <a:r>
              <a:rPr lang="ru-RU" sz="1800" b="1" dirty="0" smtClean="0">
                <a:solidFill>
                  <a:srgbClr val="002060"/>
                </a:solidFill>
              </a:rPr>
              <a:t>Положение </a:t>
            </a:r>
            <a:r>
              <a:rPr lang="ru-RU" sz="1800" b="1" dirty="0">
                <a:solidFill>
                  <a:srgbClr val="002060"/>
                </a:solidFill>
              </a:rPr>
              <a:t>о порядке проведения государственной итоговой аттестации по образовательным программам высшего образования – программам бакалавриата, программам </a:t>
            </a:r>
            <a:r>
              <a:rPr lang="ru-RU" sz="1800" b="1" dirty="0" err="1">
                <a:solidFill>
                  <a:srgbClr val="002060"/>
                </a:solidFill>
              </a:rPr>
              <a:t>специалитета</a:t>
            </a:r>
            <a:r>
              <a:rPr lang="ru-RU" sz="1800" b="1" dirty="0">
                <a:solidFill>
                  <a:srgbClr val="002060"/>
                </a:solidFill>
              </a:rPr>
              <a:t> и программам магистратуры МГТУ им. Н. Э. Баумана от 15 апреля 2019 г.</a:t>
            </a:r>
            <a:r>
              <a:rPr lang="ru-RU" b="1" dirty="0">
                <a:solidFill>
                  <a:srgbClr val="002060"/>
                </a:solidFill>
              </a:rPr>
              <a:t/>
            </a:r>
            <a:br>
              <a:rPr lang="ru-RU" b="1" dirty="0">
                <a:solidFill>
                  <a:srgbClr val="002060"/>
                </a:solidFill>
              </a:rPr>
            </a:b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1600" y="1622379"/>
            <a:ext cx="3261302" cy="4525963"/>
          </a:xfrm>
          <a:prstGeom prst="rect">
            <a:avLst/>
          </a:prstGeom>
        </p:spPr>
      </p:pic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36013" y="1600200"/>
            <a:ext cx="3262974" cy="4525963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89242E-4960-4079-9D80-F97AC2122BE0}" type="slidenum">
              <a:rPr lang="ru-RU" smtClean="0"/>
              <a:pPr>
                <a:defRPr/>
              </a:pPr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6498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224118"/>
            <a:ext cx="7772400" cy="864096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Консультации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5576" y="1052737"/>
            <a:ext cx="7772400" cy="996132"/>
          </a:xfrm>
        </p:spPr>
        <p:txBody>
          <a:bodyPr/>
          <a:lstStyle/>
          <a:p>
            <a:endParaRPr lang="ru-RU" sz="3200" dirty="0" smtClean="0">
              <a:solidFill>
                <a:srgbClr val="002060"/>
              </a:solidFill>
            </a:endParaRPr>
          </a:p>
          <a:p>
            <a:endParaRPr lang="ru-RU" sz="3200" dirty="0">
              <a:solidFill>
                <a:srgbClr val="002060"/>
              </a:solidFill>
            </a:endParaRPr>
          </a:p>
          <a:p>
            <a:endParaRPr lang="ru-RU" sz="3200" dirty="0" smtClean="0">
              <a:solidFill>
                <a:srgbClr val="002060"/>
              </a:solidFill>
            </a:endParaRPr>
          </a:p>
          <a:p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6791D1-BD3D-4FAB-B557-C18D8FF2BBC8}" type="slidenum">
              <a:rPr lang="ru-RU" smtClean="0"/>
              <a:pPr>
                <a:defRPr/>
              </a:pPr>
              <a:t>33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1034458"/>
            <a:ext cx="85124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C00000"/>
                </a:solidFill>
                <a:latin typeface="+mn-lt"/>
              </a:rPr>
              <a:t>Очные</a:t>
            </a:r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 – индивидуальные 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и </a:t>
            </a:r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групповые </a:t>
            </a:r>
            <a:r>
              <a:rPr lang="ru-RU" altLang="ru-RU" sz="2800" dirty="0">
                <a:solidFill>
                  <a:srgbClr val="002060"/>
                </a:solidFill>
                <a:latin typeface="+mn-lt"/>
              </a:rPr>
              <a:t>с 10:00 до 12:00</a:t>
            </a:r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 </a:t>
            </a:r>
            <a:r>
              <a:rPr lang="ru-RU" sz="2800" dirty="0">
                <a:solidFill>
                  <a:srgbClr val="002060"/>
                </a:solidFill>
                <a:latin typeface="+mn-lt"/>
              </a:rPr>
              <a:t>– </a:t>
            </a:r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по </a:t>
            </a:r>
            <a:r>
              <a:rPr lang="ru-RU" sz="2800" b="1" dirty="0" smtClean="0">
                <a:solidFill>
                  <a:srgbClr val="002060"/>
                </a:solidFill>
                <a:latin typeface="+mn-lt"/>
              </a:rPr>
              <a:t>предварительно составленному графику, </a:t>
            </a:r>
            <a:r>
              <a:rPr lang="ru-RU" altLang="ru-RU" sz="2800" dirty="0">
                <a:solidFill>
                  <a:srgbClr val="002060"/>
                </a:solidFill>
                <a:latin typeface="+mn-lt"/>
              </a:rPr>
              <a:t>каф. </a:t>
            </a:r>
            <a:r>
              <a:rPr lang="ru-RU" altLang="ru-RU" sz="2800" dirty="0" smtClean="0">
                <a:solidFill>
                  <a:srgbClr val="002060"/>
                </a:solidFill>
                <a:latin typeface="+mn-lt"/>
              </a:rPr>
              <a:t>ИБМ2 (ауд. 507</a:t>
            </a:r>
            <a:r>
              <a:rPr lang="ru-RU" altLang="ru-RU" sz="1600" dirty="0" smtClean="0">
                <a:solidFill>
                  <a:srgbClr val="002060"/>
                </a:solidFill>
                <a:latin typeface="+mn-lt"/>
              </a:rPr>
              <a:t>ИБМ</a:t>
            </a:r>
            <a:r>
              <a:rPr lang="ru-RU" altLang="ru-RU" sz="2800" dirty="0" smtClean="0">
                <a:solidFill>
                  <a:srgbClr val="002060"/>
                </a:solidFill>
                <a:latin typeface="+mn-lt"/>
              </a:rPr>
              <a:t>).</a:t>
            </a:r>
          </a:p>
          <a:p>
            <a:pPr algn="ctr"/>
            <a:r>
              <a:rPr lang="ru-RU" altLang="ru-RU" sz="2800" b="1" i="1" dirty="0">
                <a:solidFill>
                  <a:srgbClr val="C00000"/>
                </a:solidFill>
                <a:latin typeface="+mn-lt"/>
              </a:rPr>
              <a:t>Нормирование труда преподавателей – 3 консультации по 15 мин</a:t>
            </a:r>
          </a:p>
          <a:p>
            <a:r>
              <a:rPr lang="ru-RU" sz="2800" dirty="0" smtClean="0">
                <a:solidFill>
                  <a:srgbClr val="002060"/>
                </a:solidFill>
                <a:latin typeface="+mn-lt"/>
              </a:rPr>
              <a:t> </a:t>
            </a:r>
            <a:endParaRPr lang="en-US" sz="2800" dirty="0" smtClean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График </a:t>
            </a:r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выполнения работ:</a:t>
            </a:r>
          </a:p>
          <a:p>
            <a:pPr algn="ctr"/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     До </a:t>
            </a:r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20 </a:t>
            </a:r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марта </a:t>
            </a:r>
            <a:r>
              <a:rPr lang="ru-RU" altLang="ru-RU" sz="2800" b="1" dirty="0">
                <a:solidFill>
                  <a:srgbClr val="002060"/>
                </a:solidFill>
                <a:latin typeface="+mn-lt"/>
              </a:rPr>
              <a:t>– ОТП, НТЭ</a:t>
            </a:r>
          </a:p>
          <a:p>
            <a:pPr algn="ctr"/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     </a:t>
            </a:r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31 апреля </a:t>
            </a:r>
            <a:r>
              <a:rPr lang="ru-RU" altLang="ru-RU" sz="2800" b="1" dirty="0">
                <a:solidFill>
                  <a:srgbClr val="002060"/>
                </a:solidFill>
                <a:latin typeface="+mn-lt"/>
              </a:rPr>
              <a:t>– таблица работ и событий со всеми расчётами и </a:t>
            </a:r>
            <a:r>
              <a:rPr lang="ru-RU" altLang="ru-RU" sz="2800" b="1" dirty="0" smtClean="0">
                <a:solidFill>
                  <a:srgbClr val="002060"/>
                </a:solidFill>
                <a:latin typeface="+mn-lt"/>
              </a:rPr>
              <a:t>графиками </a:t>
            </a:r>
          </a:p>
          <a:p>
            <a:pPr algn="ctr"/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     14 </a:t>
            </a:r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мая </a:t>
            </a:r>
            <a:r>
              <a:rPr lang="ru-RU" altLang="ru-RU" sz="2800" b="1" dirty="0">
                <a:solidFill>
                  <a:srgbClr val="002060"/>
                </a:solidFill>
                <a:latin typeface="+mn-lt"/>
              </a:rPr>
              <a:t>– смета затрат, экономика</a:t>
            </a:r>
          </a:p>
          <a:p>
            <a:pPr algn="ctr"/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      </a:t>
            </a:r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2</a:t>
            </a:r>
            <a:r>
              <a:rPr lang="en-US" altLang="ru-RU" sz="2800" b="1" dirty="0" smtClean="0">
                <a:solidFill>
                  <a:srgbClr val="C00000"/>
                </a:solidFill>
                <a:latin typeface="+mn-lt"/>
              </a:rPr>
              <a:t>0</a:t>
            </a:r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altLang="ru-RU" sz="2800" b="1" dirty="0">
                <a:solidFill>
                  <a:srgbClr val="C00000"/>
                </a:solidFill>
                <a:latin typeface="+mn-lt"/>
              </a:rPr>
              <a:t>мая </a:t>
            </a:r>
            <a:r>
              <a:rPr lang="ru-RU" altLang="ru-RU" sz="2800" b="1" dirty="0">
                <a:solidFill>
                  <a:srgbClr val="002060"/>
                </a:solidFill>
                <a:latin typeface="+mn-lt"/>
              </a:rPr>
              <a:t>– </a:t>
            </a:r>
            <a:r>
              <a:rPr lang="ru-RU" altLang="ru-RU" sz="2800" b="1" dirty="0" smtClean="0">
                <a:solidFill>
                  <a:srgbClr val="002060"/>
                </a:solidFill>
                <a:latin typeface="+mn-lt"/>
              </a:rPr>
              <a:t>лист и </a:t>
            </a:r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подписать</a:t>
            </a:r>
            <a:r>
              <a:rPr lang="en-US" altLang="ru-RU" sz="28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ru-RU" altLang="ru-RU" sz="2800" b="1" dirty="0" smtClean="0">
                <a:solidFill>
                  <a:srgbClr val="C00000"/>
                </a:solidFill>
                <a:latin typeface="+mn-lt"/>
              </a:rPr>
              <a:t>ОЭЧ!!!</a:t>
            </a:r>
            <a:endParaRPr lang="ru-RU" sz="2800" dirty="0" smtClean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7043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224118"/>
            <a:ext cx="7772400" cy="864096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Консультации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5576" y="1052737"/>
            <a:ext cx="7772400" cy="996132"/>
          </a:xfrm>
        </p:spPr>
        <p:txBody>
          <a:bodyPr/>
          <a:lstStyle/>
          <a:p>
            <a:endParaRPr lang="ru-RU" sz="3200" dirty="0" smtClean="0">
              <a:solidFill>
                <a:srgbClr val="002060"/>
              </a:solidFill>
            </a:endParaRPr>
          </a:p>
          <a:p>
            <a:endParaRPr lang="ru-RU" sz="3200" dirty="0">
              <a:solidFill>
                <a:srgbClr val="002060"/>
              </a:solidFill>
            </a:endParaRPr>
          </a:p>
          <a:p>
            <a:endParaRPr lang="ru-RU" sz="3200" dirty="0" smtClean="0">
              <a:solidFill>
                <a:srgbClr val="002060"/>
              </a:solidFill>
            </a:endParaRPr>
          </a:p>
          <a:p>
            <a:endParaRPr lang="ru-RU" sz="3200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6791D1-BD3D-4FAB-B557-C18D8FF2BBC8}" type="slidenum">
              <a:rPr lang="ru-RU" smtClean="0"/>
              <a:pPr>
                <a:defRPr/>
              </a:pPr>
              <a:t>34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77309" y="2708920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altLang="ru-RU" b="1" dirty="0">
              <a:solidFill>
                <a:srgbClr val="C0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9513" y="838733"/>
            <a:ext cx="868762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Необходимо организовать на внешнем носителе с открытым доступом таблицу, с помощью которой каждый студент самостоятельно записывается на то время, которое </a:t>
            </a:r>
            <a:r>
              <a:rPr lang="ru-RU" sz="2600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свободно</a:t>
            </a:r>
          </a:p>
          <a:p>
            <a:pPr algn="just"/>
            <a:endParaRPr lang="ru-RU" sz="2600" dirty="0" smtClean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algn="just"/>
            <a:endParaRPr lang="ru-RU" sz="2600" dirty="0">
              <a:solidFill>
                <a:srgbClr val="002060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618936"/>
              </p:ext>
            </p:extLst>
          </p:nvPr>
        </p:nvGraphicFramePr>
        <p:xfrm>
          <a:off x="209172" y="2708920"/>
          <a:ext cx="8589828" cy="1756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5065">
                  <a:extLst>
                    <a:ext uri="{9D8B030D-6E8A-4147-A177-3AD203B41FA5}">
                      <a16:colId xmlns:a16="http://schemas.microsoft.com/office/drawing/2014/main" val="1621731111"/>
                    </a:ext>
                  </a:extLst>
                </a:gridCol>
                <a:gridCol w="1136745">
                  <a:extLst>
                    <a:ext uri="{9D8B030D-6E8A-4147-A177-3AD203B41FA5}">
                      <a16:colId xmlns:a16="http://schemas.microsoft.com/office/drawing/2014/main" val="3822351234"/>
                    </a:ext>
                  </a:extLst>
                </a:gridCol>
                <a:gridCol w="1516849">
                  <a:extLst>
                    <a:ext uri="{9D8B030D-6E8A-4147-A177-3AD203B41FA5}">
                      <a16:colId xmlns:a16="http://schemas.microsoft.com/office/drawing/2014/main" val="786779830"/>
                    </a:ext>
                  </a:extLst>
                </a:gridCol>
                <a:gridCol w="246937">
                  <a:extLst>
                    <a:ext uri="{9D8B030D-6E8A-4147-A177-3AD203B41FA5}">
                      <a16:colId xmlns:a16="http://schemas.microsoft.com/office/drawing/2014/main" val="316604506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2926723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9036051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2564161"/>
                    </a:ext>
                  </a:extLst>
                </a:gridCol>
                <a:gridCol w="933872">
                  <a:extLst>
                    <a:ext uri="{9D8B030D-6E8A-4147-A177-3AD203B41FA5}">
                      <a16:colId xmlns:a16="http://schemas.microsoft.com/office/drawing/2014/main" val="266487331"/>
                    </a:ext>
                  </a:extLst>
                </a:gridCol>
              </a:tblGrid>
              <a:tr h="432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Дата</a:t>
                      </a:r>
                      <a:r>
                        <a:rPr lang="en-US" sz="2000" dirty="0">
                          <a:effectLst/>
                        </a:rPr>
                        <a:t>/</a:t>
                      </a:r>
                      <a:r>
                        <a:rPr lang="ru-RU" sz="2000" dirty="0" smtClean="0">
                          <a:effectLst/>
                        </a:rPr>
                        <a:t>Время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Гр., ФИО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</a:rPr>
                        <a:t>Результат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</a:t>
                      </a:r>
                      <a:r>
                        <a:rPr lang="en-US" sz="2000">
                          <a:effectLst/>
                        </a:rPr>
                        <a:t>/</a:t>
                      </a:r>
                      <a:r>
                        <a:rPr lang="ru-RU" sz="2000">
                          <a:effectLst/>
                        </a:rPr>
                        <a:t>В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Гр., ФИО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Рез-т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…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093524"/>
                  </a:ext>
                </a:extLst>
              </a:tr>
              <a:tr h="3745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Время 1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6618697"/>
                  </a:ext>
                </a:extLst>
              </a:tr>
              <a:tr h="3792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Время 2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6325895"/>
                  </a:ext>
                </a:extLst>
              </a:tr>
              <a:tr h="57105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….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8029049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310858" y="4776242"/>
            <a:ext cx="84249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ctr">
              <a:spcAft>
                <a:spcPts val="0"/>
              </a:spcAft>
            </a:pPr>
            <a:r>
              <a:rPr lang="ru-RU" sz="2800" b="1" i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Добровольцы организовать такую таблицу приветствуются. Прошу сообщить мне, кто это </a:t>
            </a:r>
            <a:r>
              <a:rPr lang="ru-RU" sz="2800" b="1" i="1" dirty="0" smtClean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сделает .</a:t>
            </a:r>
          </a:p>
          <a:p>
            <a:pPr algn="ctr">
              <a:spcAft>
                <a:spcPts val="0"/>
              </a:spcAft>
            </a:pPr>
            <a:r>
              <a:rPr lang="ru-RU" sz="2800" i="1" dirty="0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(</a:t>
            </a:r>
            <a:r>
              <a:rPr lang="ru-RU" sz="2400" i="1" dirty="0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обещала сделать </a:t>
            </a:r>
            <a:r>
              <a:rPr lang="ru-RU" sz="2400" i="1" dirty="0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Ирина Василевская РЛ2-112)</a:t>
            </a:r>
            <a:endParaRPr lang="ru-RU" sz="24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31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0234"/>
            <a:ext cx="8229600" cy="792088"/>
          </a:xfrm>
        </p:spPr>
        <p:txBody>
          <a:bodyPr/>
          <a:lstStyle/>
          <a:p>
            <a:pPr lvl="0"/>
            <a:r>
              <a:rPr lang="ru-RU" sz="4000" b="1" dirty="0">
                <a:solidFill>
                  <a:srgbClr val="C00000"/>
                </a:solidFill>
              </a:rPr>
              <a:t>Смета затрат на выполнение </a:t>
            </a:r>
            <a:r>
              <a:rPr lang="ru-RU" sz="4000" b="1" dirty="0" smtClean="0">
                <a:solidFill>
                  <a:srgbClr val="C00000"/>
                </a:solidFill>
              </a:rPr>
              <a:t>НИР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35</a:t>
            </a:fld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606263"/>
            <a:ext cx="843528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hangingPunct="0"/>
            <a:r>
              <a:rPr lang="ru-RU" sz="2400" b="1" dirty="0" smtClean="0">
                <a:solidFill>
                  <a:srgbClr val="002060"/>
                </a:solidFill>
              </a:rPr>
              <a:t>Статьи </a:t>
            </a:r>
            <a:r>
              <a:rPr lang="ru-RU" sz="2400" b="1" dirty="0">
                <a:solidFill>
                  <a:srgbClr val="002060"/>
                </a:solidFill>
              </a:rPr>
              <a:t>затрат:</a:t>
            </a:r>
          </a:p>
          <a:p>
            <a:pPr hangingPunct="0"/>
            <a:r>
              <a:rPr lang="ru-RU" sz="2400" b="1" dirty="0">
                <a:solidFill>
                  <a:srgbClr val="002060"/>
                </a:solidFill>
              </a:rPr>
              <a:t> </a:t>
            </a:r>
          </a:p>
          <a:p>
            <a:pPr marL="342900" lvl="0" indent="-342900" hangingPunct="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Заработная плата исполнителей НИОКР.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Страховые взносы (НК РФ раздел XI «Страховые взносы </a:t>
            </a:r>
            <a:r>
              <a:rPr lang="ru-RU" sz="2400" dirty="0" smtClean="0">
                <a:solidFill>
                  <a:srgbClr val="002060"/>
                </a:solidFill>
              </a:rPr>
              <a:t>в </a:t>
            </a:r>
            <a:r>
              <a:rPr lang="ru-RU" sz="2400" dirty="0">
                <a:solidFill>
                  <a:srgbClr val="002060"/>
                </a:solidFill>
              </a:rPr>
              <a:t>Российской Федерации</a:t>
            </a:r>
            <a:r>
              <a:rPr lang="ru-RU" sz="2400" dirty="0" smtClean="0">
                <a:solidFill>
                  <a:srgbClr val="002060"/>
                </a:solidFill>
              </a:rPr>
              <a:t>»).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Затраты </a:t>
            </a:r>
            <a:r>
              <a:rPr lang="ru-RU" sz="2400" dirty="0">
                <a:solidFill>
                  <a:srgbClr val="002060"/>
                </a:solidFill>
              </a:rPr>
              <a:t>на материалы, покупные изделия и полуфабрикаты.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Затраты по </a:t>
            </a:r>
            <a:r>
              <a:rPr lang="ru-RU" sz="2400" dirty="0" smtClean="0">
                <a:solidFill>
                  <a:srgbClr val="002060"/>
                </a:solidFill>
              </a:rPr>
              <a:t>контрагентным работам.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Спецоборудование </a:t>
            </a:r>
            <a:r>
              <a:rPr lang="ru-RU" sz="2400" dirty="0">
                <a:solidFill>
                  <a:srgbClr val="002060"/>
                </a:solidFill>
              </a:rPr>
              <a:t>для научных (экспериментальных) работ.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Амортизационные отчисления по основным средствам.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Затраты на специальное программное обеспечение.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Прочие </a:t>
            </a:r>
            <a:r>
              <a:rPr lang="ru-RU" sz="2400" dirty="0" smtClean="0">
                <a:solidFill>
                  <a:srgbClr val="002060"/>
                </a:solidFill>
              </a:rPr>
              <a:t>затраты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Накладные расходы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86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0234"/>
            <a:ext cx="8229600" cy="792088"/>
          </a:xfrm>
        </p:spPr>
        <p:txBody>
          <a:bodyPr/>
          <a:lstStyle/>
          <a:p>
            <a:pPr lvl="0"/>
            <a:r>
              <a:rPr lang="ru-RU" b="1" dirty="0"/>
              <a:t>Заработная плата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36</a:t>
            </a:fld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08720" y="980728"/>
            <a:ext cx="84352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hangingPunct="0"/>
            <a:r>
              <a:rPr lang="ru-RU" sz="2400" b="1" dirty="0" smtClean="0">
                <a:solidFill>
                  <a:srgbClr val="002060"/>
                </a:solidFill>
              </a:rPr>
              <a:t>По </a:t>
            </a:r>
            <a:r>
              <a:rPr lang="ru-RU" sz="2400" b="1" dirty="0">
                <a:solidFill>
                  <a:srgbClr val="002060"/>
                </a:solidFill>
              </a:rPr>
              <a:t>штатно-окладной системе оплаты труда:</a:t>
            </a:r>
          </a:p>
          <a:p>
            <a:pPr hangingPunct="0"/>
            <a:r>
              <a:rPr lang="ru-RU" sz="2400" b="1" dirty="0">
                <a:solidFill>
                  <a:srgbClr val="002060"/>
                </a:solidFill>
              </a:rPr>
              <a:t> 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34" y="2030599"/>
            <a:ext cx="856895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5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0234"/>
            <a:ext cx="8229600" cy="792088"/>
          </a:xfrm>
        </p:spPr>
        <p:txBody>
          <a:bodyPr/>
          <a:lstStyle/>
          <a:p>
            <a:pPr lvl="0"/>
            <a:r>
              <a:rPr lang="ru-RU" b="1" dirty="0">
                <a:solidFill>
                  <a:srgbClr val="C00000"/>
                </a:solidFill>
              </a:rPr>
              <a:t>Страховые взносы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37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864096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5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0234"/>
            <a:ext cx="8229600" cy="1443010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/>
            </a:r>
            <a:br>
              <a:rPr lang="ru-RU" sz="4000" b="1" dirty="0" smtClean="0">
                <a:solidFill>
                  <a:srgbClr val="C00000"/>
                </a:solidFill>
              </a:rPr>
            </a:br>
            <a:r>
              <a:rPr lang="ru-RU" sz="4000" b="1" dirty="0" smtClean="0">
                <a:solidFill>
                  <a:srgbClr val="C00000"/>
                </a:solidFill>
              </a:rPr>
              <a:t>Материалы</a:t>
            </a:r>
            <a:r>
              <a:rPr lang="ru-RU" sz="4000" b="1" dirty="0">
                <a:solidFill>
                  <a:srgbClr val="C00000"/>
                </a:solidFill>
              </a:rPr>
              <a:t>, покупные изделия и полуфабрикаты</a:t>
            </a:r>
            <a:r>
              <a:rPr lang="ru-RU" sz="4000" dirty="0">
                <a:solidFill>
                  <a:srgbClr val="C00000"/>
                </a:solidFill>
              </a:rPr>
              <a:t> </a:t>
            </a:r>
            <a:br>
              <a:rPr lang="ru-RU" sz="4000" dirty="0">
                <a:solidFill>
                  <a:srgbClr val="C00000"/>
                </a:solidFill>
              </a:rPr>
            </a:br>
            <a:r>
              <a:rPr lang="ru-RU" dirty="0"/>
              <a:t>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38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1630816"/>
            <a:ext cx="8424936" cy="4653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5900" algn="just">
              <a:lnSpc>
                <a:spcPct val="115000"/>
              </a:lnSpc>
              <a:spcAft>
                <a:spcPts val="0"/>
              </a:spcAft>
              <a:tabLst>
                <a:tab pos="264795" algn="l"/>
                <a:tab pos="449580" algn="l"/>
              </a:tabLst>
            </a:pPr>
            <a:r>
              <a:rPr lang="ru-RU" sz="2400" dirty="0" smtClean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Включая 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расходы на их приобретение и доставку</a:t>
            </a:r>
            <a:r>
              <a:rPr lang="ru-RU" sz="2400" dirty="0" smtClean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64795" algn="l"/>
                <a:tab pos="493395" algn="l"/>
              </a:tabLst>
            </a:pPr>
            <a:r>
              <a:rPr lang="ru-RU" sz="2400" b="1" dirty="0" smtClean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прямые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материальные затраты;</a:t>
            </a:r>
            <a:endParaRPr lang="ru-RU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64795" algn="l"/>
                <a:tab pos="493395" algn="l"/>
              </a:tabLst>
            </a:pP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затраты на вспомогательные 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материалы, если их расход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связан непосредственно 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 выполнением данной темы, как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косвенные,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ru-RU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64795" algn="l"/>
                <a:tab pos="493395" algn="l"/>
              </a:tabLst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противном случае – на статью </a:t>
            </a:r>
            <a:r>
              <a:rPr lang="ru-RU" sz="24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«Накладные расходы». </a:t>
            </a:r>
            <a:endParaRPr lang="ru-RU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64795" algn="l"/>
                <a:tab pos="493395" algn="l"/>
              </a:tabLst>
            </a:pP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 затрат на материалы исключается стоимость возвратных отходов</a:t>
            </a:r>
            <a:r>
              <a:rPr lang="ru-RU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Общая сумма затрат </a:t>
            </a:r>
            <a:r>
              <a:rPr lang="ru-RU" sz="2400" dirty="0" smtClean="0">
                <a:solidFill>
                  <a:srgbClr val="002060"/>
                </a:solidFill>
              </a:rPr>
              <a:t>увеличивается </a:t>
            </a:r>
            <a:r>
              <a:rPr lang="ru-RU" sz="2400" dirty="0">
                <a:solidFill>
                  <a:srgbClr val="002060"/>
                </a:solidFill>
              </a:rPr>
              <a:t>на </a:t>
            </a:r>
            <a:r>
              <a:rPr lang="ru-RU" sz="2400" b="1" dirty="0">
                <a:solidFill>
                  <a:srgbClr val="002060"/>
                </a:solidFill>
              </a:rPr>
              <a:t>транспортно-заготовительные расходы </a:t>
            </a:r>
            <a:r>
              <a:rPr lang="ru-RU" sz="2400" dirty="0">
                <a:solidFill>
                  <a:srgbClr val="002060"/>
                </a:solidFill>
              </a:rPr>
              <a:t>и </a:t>
            </a:r>
            <a:r>
              <a:rPr lang="ru-RU" sz="2400" b="1" dirty="0">
                <a:solidFill>
                  <a:srgbClr val="002060"/>
                </a:solidFill>
              </a:rPr>
              <a:t>страхование </a:t>
            </a:r>
            <a:r>
              <a:rPr lang="ru-RU" sz="2400" b="1" dirty="0" smtClean="0">
                <a:solidFill>
                  <a:srgbClr val="002060"/>
                </a:solidFill>
              </a:rPr>
              <a:t>грузов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01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78098"/>
          </a:xfrm>
        </p:spPr>
        <p:txBody>
          <a:bodyPr/>
          <a:lstStyle/>
          <a:p>
            <a:r>
              <a:rPr lang="ru-RU" sz="3600" b="1" dirty="0" smtClean="0">
                <a:solidFill>
                  <a:srgbClr val="C00000"/>
                </a:solidFill>
              </a:rPr>
              <a:t/>
            </a:r>
            <a:br>
              <a:rPr lang="ru-RU" sz="3600" b="1" dirty="0" smtClean="0">
                <a:solidFill>
                  <a:srgbClr val="C00000"/>
                </a:solidFill>
              </a:rPr>
            </a:br>
            <a:r>
              <a:rPr lang="ru-RU" sz="3600" b="1" dirty="0" smtClean="0">
                <a:solidFill>
                  <a:srgbClr val="C00000"/>
                </a:solidFill>
              </a:rPr>
              <a:t>Материалы</a:t>
            </a:r>
            <a:r>
              <a:rPr lang="ru-RU" sz="3600" b="1" dirty="0">
                <a:solidFill>
                  <a:srgbClr val="C00000"/>
                </a:solidFill>
              </a:rPr>
              <a:t>, покупные изделия и полуфабрикаты</a:t>
            </a:r>
            <a:r>
              <a:rPr lang="ru-RU" sz="3600" dirty="0">
                <a:solidFill>
                  <a:srgbClr val="C00000"/>
                </a:solidFill>
              </a:rPr>
              <a:t> </a:t>
            </a:r>
            <a:br>
              <a:rPr lang="ru-RU" sz="3600" dirty="0">
                <a:solidFill>
                  <a:srgbClr val="C00000"/>
                </a:solidFill>
              </a:rPr>
            </a:br>
            <a:r>
              <a:rPr lang="ru-RU" sz="3600" dirty="0"/>
              <a:t> 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37312"/>
            <a:ext cx="2133600" cy="365125"/>
          </a:xfrm>
        </p:spPr>
        <p:txBody>
          <a:bodyPr/>
          <a:lstStyle/>
          <a:p>
            <a:pPr>
              <a:defRPr/>
            </a:pPr>
            <a:fld id="{7F2F847E-8C0E-4157-8535-0DF9A51F701E}" type="slidenum">
              <a:rPr lang="ru-RU" sz="2000" smtClean="0"/>
              <a:pPr>
                <a:defRPr/>
              </a:pPr>
              <a:t>39</a:t>
            </a:fld>
            <a:endParaRPr lang="ru-RU" sz="20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789014"/>
              </p:ext>
            </p:extLst>
          </p:nvPr>
        </p:nvGraphicFramePr>
        <p:xfrm>
          <a:off x="189858" y="1260471"/>
          <a:ext cx="8496942" cy="495421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919467">
                  <a:extLst>
                    <a:ext uri="{9D8B030D-6E8A-4147-A177-3AD203B41FA5}">
                      <a16:colId xmlns:a16="http://schemas.microsoft.com/office/drawing/2014/main" val="758812691"/>
                    </a:ext>
                  </a:extLst>
                </a:gridCol>
                <a:gridCol w="1184988">
                  <a:extLst>
                    <a:ext uri="{9D8B030D-6E8A-4147-A177-3AD203B41FA5}">
                      <a16:colId xmlns:a16="http://schemas.microsoft.com/office/drawing/2014/main" val="13536006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379451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5308520"/>
                    </a:ext>
                  </a:extLst>
                </a:gridCol>
                <a:gridCol w="1872207">
                  <a:extLst>
                    <a:ext uri="{9D8B030D-6E8A-4147-A177-3AD203B41FA5}">
                      <a16:colId xmlns:a16="http://schemas.microsoft.com/office/drawing/2014/main" val="1080477824"/>
                    </a:ext>
                  </a:extLst>
                </a:gridCol>
              </a:tblGrid>
              <a:tr h="349223">
                <a:tc gridSpan="5">
                  <a:txBody>
                    <a:bodyPr/>
                    <a:lstStyle/>
                    <a:p>
                      <a:pPr marL="215900" indent="-17970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ЭТАП (РАБОТА) НИОКР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206516"/>
                  </a:ext>
                </a:extLst>
              </a:tr>
              <a:tr h="349223">
                <a:tc gridSpan="5"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а) Прямые затраты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857500"/>
                  </a:ext>
                </a:extLst>
              </a:tr>
              <a:tr h="1126321"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Наименование </a:t>
                      </a:r>
                    </a:p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материального ресурса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 smtClean="0">
                          <a:effectLst/>
                        </a:rPr>
                        <a:t>Ед. </a:t>
                      </a:r>
                      <a:r>
                        <a:rPr lang="ru-RU" sz="2000" dirty="0" err="1" smtClean="0">
                          <a:effectLst/>
                        </a:rPr>
                        <a:t>измер</a:t>
                      </a:r>
                      <a:r>
                        <a:rPr lang="ru-RU" sz="2000" dirty="0" smtClean="0">
                          <a:effectLst/>
                        </a:rPr>
                        <a:t>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 smtClean="0">
                          <a:effectLst/>
                        </a:rPr>
                        <a:t>Цена ед.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36513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Количество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Суммарные</a:t>
                      </a:r>
                    </a:p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затраты на ресурс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4571611"/>
                  </a:ext>
                </a:extLst>
              </a:tr>
              <a:tr h="349223"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4520878"/>
                  </a:ext>
                </a:extLst>
              </a:tr>
              <a:tr h="349223">
                <a:tc gridSpan="5"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б) Косвенные затраты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048442"/>
                  </a:ext>
                </a:extLst>
              </a:tr>
              <a:tr h="1749826"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Наименование материального ресурса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 smtClean="0">
                          <a:effectLst/>
                        </a:rPr>
                        <a:t>Ед. </a:t>
                      </a:r>
                      <a:r>
                        <a:rPr lang="ru-RU" sz="2000" dirty="0" err="1" smtClean="0">
                          <a:effectLst/>
                        </a:rPr>
                        <a:t>измер</a:t>
                      </a:r>
                      <a:r>
                        <a:rPr lang="ru-RU" sz="2000" dirty="0" smtClean="0">
                          <a:effectLst/>
                        </a:rPr>
                        <a:t>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 smtClean="0">
                          <a:effectLst/>
                        </a:rPr>
                        <a:t>Цена </a:t>
                      </a:r>
                      <a:r>
                        <a:rPr lang="ru-RU" sz="2000" dirty="0" err="1" smtClean="0">
                          <a:effectLst/>
                        </a:rPr>
                        <a:t>ед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Способ отнесения на НИОКР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Затраты на ресурс, приходящиеся на НИОКР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413410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6870158"/>
                  </a:ext>
                </a:extLst>
              </a:tr>
              <a:tr h="349223">
                <a:tc gridSpan="4"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>
                          <a:effectLst/>
                        </a:rPr>
                        <a:t>ИТОГО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indent="-179705" algn="just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4795" algn="l"/>
                          <a:tab pos="449580" algn="l"/>
                        </a:tabLst>
                      </a:pPr>
                      <a:r>
                        <a:rPr lang="ru-RU" sz="2000" dirty="0">
                          <a:effectLst/>
                        </a:rPr>
                        <a:t>∑ =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5964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12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0234"/>
            <a:ext cx="8229600" cy="1010962"/>
          </a:xfrm>
        </p:spPr>
        <p:txBody>
          <a:bodyPr/>
          <a:lstStyle/>
          <a:p>
            <a:pPr lvl="0"/>
            <a:r>
              <a:rPr lang="ru-RU" sz="4000" b="1" dirty="0" smtClean="0">
                <a:solidFill>
                  <a:srgbClr val="C00000"/>
                </a:solidFill>
              </a:rPr>
              <a:t/>
            </a:r>
            <a:br>
              <a:rPr lang="ru-RU" sz="4000" b="1" dirty="0" smtClean="0">
                <a:solidFill>
                  <a:srgbClr val="C00000"/>
                </a:solidFill>
              </a:rPr>
            </a:br>
            <a:r>
              <a:rPr lang="ru-RU" sz="4000" b="1" dirty="0" err="1" smtClean="0">
                <a:solidFill>
                  <a:srgbClr val="C00000"/>
                </a:solidFill>
              </a:rPr>
              <a:t>Контрагентные</a:t>
            </a:r>
            <a:r>
              <a:rPr lang="ru-RU" sz="4000" b="1" dirty="0" smtClean="0">
                <a:solidFill>
                  <a:srgbClr val="C00000"/>
                </a:solidFill>
              </a:rPr>
              <a:t> работы </a:t>
            </a:r>
            <a:r>
              <a:rPr lang="ru-RU" sz="4000" b="1" dirty="0">
                <a:solidFill>
                  <a:srgbClr val="C00000"/>
                </a:solidFill>
              </a:rPr>
              <a:t/>
            </a:r>
            <a:br>
              <a:rPr lang="ru-RU" sz="4000" b="1" dirty="0">
                <a:solidFill>
                  <a:srgbClr val="C00000"/>
                </a:solidFill>
              </a:rPr>
            </a:br>
            <a:r>
              <a:rPr lang="ru-RU" dirty="0"/>
              <a:t>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40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03548" y="980728"/>
            <a:ext cx="8136904" cy="5027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ru-RU" dirty="0"/>
              <a:t> </a:t>
            </a:r>
          </a:p>
          <a:p>
            <a:r>
              <a:rPr lang="ru-RU" sz="2400" b="1" dirty="0">
                <a:solidFill>
                  <a:srgbClr val="002060"/>
                </a:solidFill>
              </a:rPr>
              <a:t>В договорных ценах </a:t>
            </a:r>
            <a:r>
              <a:rPr lang="ru-RU" sz="2400" b="1" dirty="0" smtClean="0">
                <a:solidFill>
                  <a:srgbClr val="002060"/>
                </a:solidFill>
              </a:rPr>
              <a:t>по договорам</a:t>
            </a:r>
            <a:r>
              <a:rPr lang="ru-RU" sz="2400" dirty="0" smtClean="0">
                <a:solidFill>
                  <a:srgbClr val="002060"/>
                </a:solidFill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расходы на комплектующие, узлы, </a:t>
            </a:r>
            <a:r>
              <a:rPr lang="ru-RU" sz="2400" dirty="0">
                <a:solidFill>
                  <a:srgbClr val="002060"/>
                </a:solidFill>
              </a:rPr>
              <a:t>получаемым от др. предприятий;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оплата макетов и образцов изделий;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 оплата работ опытного производства, выделенных на самостоятельный баланс и т.п. </a:t>
            </a:r>
          </a:p>
          <a:p>
            <a:endParaRPr lang="ru-RU" sz="2400" b="1" dirty="0" smtClean="0">
              <a:solidFill>
                <a:srgbClr val="002060"/>
              </a:solidFill>
            </a:endParaRPr>
          </a:p>
          <a:p>
            <a:r>
              <a:rPr lang="ru-RU" sz="2400" b="1" dirty="0" smtClean="0">
                <a:solidFill>
                  <a:srgbClr val="002060"/>
                </a:solidFill>
              </a:rPr>
              <a:t>Таблица</a:t>
            </a:r>
            <a:r>
              <a:rPr lang="ru-RU" sz="2400" b="1" dirty="0">
                <a:solidFill>
                  <a:srgbClr val="002060"/>
                </a:solidFill>
              </a:rPr>
              <a:t>:</a:t>
            </a:r>
            <a:endParaRPr lang="ru-RU" sz="2400" dirty="0">
              <a:solidFill>
                <a:srgbClr val="002060"/>
              </a:solidFill>
            </a:endParaRPr>
          </a:p>
          <a:p>
            <a:r>
              <a:rPr lang="ru-RU" sz="2400" b="1" dirty="0">
                <a:solidFill>
                  <a:srgbClr val="002060"/>
                </a:solidFill>
              </a:rPr>
              <a:t>Этап НИОКР – наименование работы – предприятие-соисполнитель – объем работ – срок исполнения – </a:t>
            </a:r>
            <a:r>
              <a:rPr lang="ru-RU" sz="2400" b="1" dirty="0" smtClean="0">
                <a:solidFill>
                  <a:srgbClr val="002060"/>
                </a:solidFill>
              </a:rPr>
              <a:t>сумма </a:t>
            </a:r>
            <a:r>
              <a:rPr lang="ru-RU" sz="2400" b="1" dirty="0">
                <a:solidFill>
                  <a:srgbClr val="002060"/>
                </a:solidFill>
              </a:rPr>
              <a:t>затрат на </a:t>
            </a:r>
            <a:r>
              <a:rPr lang="ru-RU" sz="2400" b="1" dirty="0" smtClean="0">
                <a:solidFill>
                  <a:srgbClr val="002060"/>
                </a:solidFill>
              </a:rPr>
              <a:t>работу</a:t>
            </a:r>
            <a:endParaRPr lang="ru-RU" sz="2400" dirty="0">
              <a:solidFill>
                <a:srgbClr val="002060"/>
              </a:solidFill>
            </a:endParaRPr>
          </a:p>
          <a:p>
            <a:pPr hangingPunct="0"/>
            <a:r>
              <a:rPr lang="ru-RU" dirty="0"/>
              <a:t> </a:t>
            </a:r>
          </a:p>
          <a:p>
            <a:pPr marL="215900" algn="just">
              <a:lnSpc>
                <a:spcPct val="115000"/>
              </a:lnSpc>
              <a:spcAft>
                <a:spcPts val="0"/>
              </a:spcAft>
              <a:tabLst>
                <a:tab pos="264795" algn="l"/>
                <a:tab pos="449580" algn="l"/>
              </a:tabLs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1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/>
          <a:lstStyle/>
          <a:p>
            <a:r>
              <a:rPr lang="ru-RU" b="1" dirty="0" smtClean="0">
                <a:solidFill>
                  <a:srgbClr val="C00000"/>
                </a:solidFill>
              </a:rPr>
              <a:t/>
            </a:r>
            <a:br>
              <a:rPr lang="ru-RU" b="1" dirty="0" smtClean="0">
                <a:solidFill>
                  <a:srgbClr val="C00000"/>
                </a:solidFill>
              </a:rPr>
            </a:br>
            <a:r>
              <a:rPr lang="ru-RU" b="1" dirty="0" smtClean="0">
                <a:solidFill>
                  <a:srgbClr val="C00000"/>
                </a:solidFill>
              </a:rPr>
              <a:t>Прочие </a:t>
            </a:r>
            <a:r>
              <a:rPr lang="ru-RU" b="1" dirty="0">
                <a:solidFill>
                  <a:srgbClr val="C00000"/>
                </a:solidFill>
              </a:rPr>
              <a:t>основные затраты:</a:t>
            </a:r>
            <a:r>
              <a:rPr lang="ru-RU" dirty="0">
                <a:solidFill>
                  <a:srgbClr val="C00000"/>
                </a:solidFill>
              </a:rPr>
              <a:t/>
            </a:r>
            <a:br>
              <a:rPr lang="ru-RU" dirty="0">
                <a:solidFill>
                  <a:srgbClr val="C00000"/>
                </a:solidFill>
              </a:rPr>
            </a:b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41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57200" y="1312267"/>
            <a:ext cx="83632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</a:rPr>
              <a:t>подготовка </a:t>
            </a:r>
            <a:r>
              <a:rPr lang="ru-RU" sz="2800" dirty="0">
                <a:solidFill>
                  <a:srgbClr val="002060"/>
                </a:solidFill>
              </a:rPr>
              <a:t>научно-технической информации;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проведение патентных исследований и экспертиз;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услуги всех видов связи;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командировки исполнителей </a:t>
            </a:r>
            <a:r>
              <a:rPr lang="ru-RU" sz="2800" dirty="0" smtClean="0">
                <a:solidFill>
                  <a:srgbClr val="002060"/>
                </a:solidFill>
              </a:rPr>
              <a:t>НИОКР; </a:t>
            </a:r>
            <a:endParaRPr lang="ru-RU" sz="2800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 </a:t>
            </a:r>
            <a:r>
              <a:rPr lang="ru-RU" sz="2800" dirty="0" smtClean="0">
                <a:solidFill>
                  <a:srgbClr val="002060"/>
                </a:solidFill>
              </a:rPr>
              <a:t>и пр.</a:t>
            </a:r>
            <a:endParaRPr lang="ru-RU" sz="2400" dirty="0">
              <a:solidFill>
                <a:srgbClr val="002060"/>
              </a:solidFill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98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/>
          <a:lstStyle/>
          <a:p>
            <a:r>
              <a:rPr lang="ru-RU" b="1" dirty="0" smtClean="0">
                <a:solidFill>
                  <a:srgbClr val="C00000"/>
                </a:solidFill>
              </a:rPr>
              <a:t/>
            </a:r>
            <a:br>
              <a:rPr lang="ru-RU" b="1" dirty="0" smtClean="0">
                <a:solidFill>
                  <a:srgbClr val="C00000"/>
                </a:solidFill>
              </a:rPr>
            </a:br>
            <a:r>
              <a:rPr lang="ru-RU" b="1" dirty="0" smtClean="0">
                <a:solidFill>
                  <a:srgbClr val="C00000"/>
                </a:solidFill>
              </a:rPr>
              <a:t>Накладные </a:t>
            </a:r>
            <a:r>
              <a:rPr lang="ru-RU" b="1" dirty="0">
                <a:solidFill>
                  <a:srgbClr val="C00000"/>
                </a:solidFill>
              </a:rPr>
              <a:t>расходы </a:t>
            </a:r>
            <a:r>
              <a:rPr lang="ru-RU" b="1" dirty="0" smtClean="0">
                <a:solidFill>
                  <a:srgbClr val="C00000"/>
                </a:solidFill>
              </a:rPr>
              <a:t/>
            </a:r>
            <a:br>
              <a:rPr lang="ru-RU" b="1" dirty="0" smtClean="0">
                <a:solidFill>
                  <a:srgbClr val="C00000"/>
                </a:solidFill>
              </a:rPr>
            </a:b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42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57200" y="1484784"/>
            <a:ext cx="836327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Управленческие </a:t>
            </a:r>
            <a:r>
              <a:rPr lang="ru-RU" sz="2800" dirty="0">
                <a:solidFill>
                  <a:srgbClr val="002060"/>
                </a:solidFill>
              </a:rPr>
              <a:t>и общехозяйственные расходы, и </a:t>
            </a:r>
            <a:r>
              <a:rPr lang="ru-RU" sz="2800" dirty="0" smtClean="0">
                <a:solidFill>
                  <a:srgbClr val="002060"/>
                </a:solidFill>
              </a:rPr>
              <a:t>пр., </a:t>
            </a:r>
            <a:r>
              <a:rPr lang="ru-RU" sz="2800" dirty="0">
                <a:solidFill>
                  <a:srgbClr val="002060"/>
                </a:solidFill>
              </a:rPr>
              <a:t>которые не представляется возможным взаимно увязать с конкретными </a:t>
            </a:r>
            <a:r>
              <a:rPr lang="ru-RU" sz="2800" dirty="0" smtClean="0">
                <a:solidFill>
                  <a:srgbClr val="002060"/>
                </a:solidFill>
              </a:rPr>
              <a:t>НИОКР</a:t>
            </a:r>
          </a:p>
          <a:p>
            <a:endParaRPr lang="ru-RU" sz="2800" dirty="0" smtClean="0">
              <a:solidFill>
                <a:srgbClr val="002060"/>
              </a:solidFill>
            </a:endParaRPr>
          </a:p>
          <a:p>
            <a:pPr algn="ctr"/>
            <a:r>
              <a:rPr lang="ru-RU" sz="2400" i="1" dirty="0" smtClean="0">
                <a:solidFill>
                  <a:srgbClr val="C00000"/>
                </a:solidFill>
              </a:rPr>
              <a:t>(от 80% до 170% от заработной платы)</a:t>
            </a:r>
            <a:endParaRPr lang="ru-RU" sz="2400" i="1" dirty="0">
              <a:solidFill>
                <a:srgbClr val="C00000"/>
              </a:solidFill>
            </a:endParaRPr>
          </a:p>
          <a:p>
            <a:r>
              <a:rPr lang="ru-RU" sz="2800" dirty="0">
                <a:solidFill>
                  <a:srgbClr val="002060"/>
                </a:solidFill>
              </a:rPr>
              <a:t> 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02060"/>
              </a:solidFill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92696"/>
          </a:xfrm>
        </p:spPr>
        <p:txBody>
          <a:bodyPr/>
          <a:lstStyle/>
          <a:p>
            <a:pPr lvl="0"/>
            <a:r>
              <a:rPr lang="ru-RU" b="1" dirty="0" smtClean="0">
                <a:solidFill>
                  <a:srgbClr val="C00000"/>
                </a:solidFill>
              </a:rPr>
              <a:t>Эффективность НИР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43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7302" y="925067"/>
            <a:ext cx="9047790" cy="480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-25400" algn="just" hangingPunct="0">
              <a:lnSpc>
                <a:spcPct val="115000"/>
              </a:lnSpc>
              <a:spcAft>
                <a:spcPts val="0"/>
              </a:spcAft>
            </a:pPr>
            <a:endParaRPr lang="ru-RU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23528" y="675169"/>
            <a:ext cx="849694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hangingPunct="1"/>
            <a:endParaRPr lang="ru-RU" sz="2400" dirty="0" smtClean="0">
              <a:solidFill>
                <a:srgbClr val="002060"/>
              </a:solidFill>
            </a:endParaRPr>
          </a:p>
          <a:p>
            <a:pPr fontAlgn="auto" hangingPunct="1"/>
            <a:r>
              <a:rPr lang="ru-RU" sz="2400" dirty="0" smtClean="0">
                <a:solidFill>
                  <a:srgbClr val="002060"/>
                </a:solidFill>
              </a:rPr>
              <a:t>Для конкурирующих </a:t>
            </a:r>
            <a:r>
              <a:rPr lang="ru-RU" sz="2400" dirty="0">
                <a:solidFill>
                  <a:srgbClr val="002060"/>
                </a:solidFill>
              </a:rPr>
              <a:t>тем отбор проводят по критерию </a:t>
            </a:r>
            <a:r>
              <a:rPr lang="ru-RU" sz="2400" dirty="0" smtClean="0">
                <a:solidFill>
                  <a:srgbClr val="002060"/>
                </a:solidFill>
              </a:rPr>
              <a:t>НИР – </a:t>
            </a:r>
            <a:r>
              <a:rPr lang="ru-RU" sz="2400" i="1" dirty="0" smtClean="0">
                <a:solidFill>
                  <a:srgbClr val="002060"/>
                </a:solidFill>
              </a:rPr>
              <a:t>S </a:t>
            </a:r>
            <a:r>
              <a:rPr lang="ru-RU" sz="2400" i="1" baseline="-25000" dirty="0">
                <a:solidFill>
                  <a:srgbClr val="002060"/>
                </a:solidFill>
              </a:rPr>
              <a:t>см уд</a:t>
            </a:r>
            <a:r>
              <a:rPr lang="ru-RU" sz="2400" i="1" dirty="0">
                <a:solidFill>
                  <a:srgbClr val="002060"/>
                </a:solidFill>
              </a:rPr>
              <a:t>  </a:t>
            </a:r>
            <a:r>
              <a:rPr lang="ru-RU" sz="2400" dirty="0">
                <a:solidFill>
                  <a:srgbClr val="002060"/>
                </a:solidFill>
              </a:rPr>
              <a:t>либо </a:t>
            </a:r>
            <a:r>
              <a:rPr lang="ru-RU" sz="2400" b="1" i="1" dirty="0" smtClean="0">
                <a:solidFill>
                  <a:srgbClr val="002060"/>
                </a:solidFill>
              </a:rPr>
              <a:t>удельной </a:t>
            </a:r>
            <a:r>
              <a:rPr lang="ru-RU" sz="2400" b="1" i="1" dirty="0">
                <a:solidFill>
                  <a:srgbClr val="002060"/>
                </a:solidFill>
              </a:rPr>
              <a:t>сметной стоимости </a:t>
            </a:r>
            <a:r>
              <a:rPr lang="ru-RU" sz="2400" b="1" i="1" dirty="0" smtClean="0">
                <a:solidFill>
                  <a:srgbClr val="002060"/>
                </a:solidFill>
              </a:rPr>
              <a:t>и </a:t>
            </a:r>
            <a:r>
              <a:rPr lang="ru-RU" sz="2400" dirty="0" smtClean="0">
                <a:solidFill>
                  <a:srgbClr val="002060"/>
                </a:solidFill>
              </a:rPr>
              <a:t>цены </a:t>
            </a:r>
            <a:r>
              <a:rPr lang="ru-RU" sz="2400" dirty="0">
                <a:solidFill>
                  <a:srgbClr val="002060"/>
                </a:solidFill>
              </a:rPr>
              <a:t>Ц </a:t>
            </a:r>
            <a:r>
              <a:rPr lang="ru-RU" sz="2400" baseline="-25000" dirty="0">
                <a:solidFill>
                  <a:srgbClr val="002060"/>
                </a:solidFill>
              </a:rPr>
              <a:t>т уд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</a:p>
          <a:p>
            <a:pPr algn="ctr" fontAlgn="auto" hangingPunct="1"/>
            <a:r>
              <a:rPr lang="en-US" sz="2400" b="1" dirty="0">
                <a:solidFill>
                  <a:srgbClr val="002060"/>
                </a:solidFill>
              </a:rPr>
              <a:t>S </a:t>
            </a:r>
            <a:r>
              <a:rPr lang="ru-RU" sz="2400" b="1" baseline="-25000" dirty="0">
                <a:solidFill>
                  <a:srgbClr val="002060"/>
                </a:solidFill>
              </a:rPr>
              <a:t>см уд</a:t>
            </a:r>
            <a:r>
              <a:rPr lang="ru-RU" sz="2400" b="1" dirty="0">
                <a:solidFill>
                  <a:srgbClr val="002060"/>
                </a:solidFill>
              </a:rPr>
              <a:t> =</a:t>
            </a:r>
            <a:r>
              <a:rPr lang="en-US" sz="2400" b="1" dirty="0">
                <a:solidFill>
                  <a:srgbClr val="002060"/>
                </a:solidFill>
              </a:rPr>
              <a:t>S</a:t>
            </a:r>
            <a:r>
              <a:rPr lang="ru-RU" sz="2400" b="1" baseline="-25000" dirty="0">
                <a:solidFill>
                  <a:srgbClr val="002060"/>
                </a:solidFill>
              </a:rPr>
              <a:t>см</a:t>
            </a:r>
            <a:r>
              <a:rPr lang="ru-RU" sz="2400" b="1" dirty="0">
                <a:solidFill>
                  <a:srgbClr val="002060"/>
                </a:solidFill>
              </a:rPr>
              <a:t>/</a:t>
            </a:r>
            <a:r>
              <a:rPr lang="ru-RU" sz="2400" b="1" dirty="0" err="1">
                <a:solidFill>
                  <a:srgbClr val="002060"/>
                </a:solidFill>
              </a:rPr>
              <a:t>К</a:t>
            </a:r>
            <a:r>
              <a:rPr lang="ru-RU" sz="2400" b="1" baseline="-25000" dirty="0" err="1">
                <a:solidFill>
                  <a:srgbClr val="002060"/>
                </a:solidFill>
              </a:rPr>
              <a:t>нт</a:t>
            </a:r>
            <a:r>
              <a:rPr lang="ru-RU" sz="2400" b="1" dirty="0">
                <a:solidFill>
                  <a:srgbClr val="002060"/>
                </a:solidFill>
              </a:rPr>
              <a:t>;</a:t>
            </a:r>
            <a:endParaRPr lang="ru-RU" sz="2400" dirty="0">
              <a:solidFill>
                <a:srgbClr val="002060"/>
              </a:solidFill>
            </a:endParaRPr>
          </a:p>
          <a:p>
            <a:pPr algn="ctr" fontAlgn="auto" hangingPunct="1"/>
            <a:r>
              <a:rPr lang="ru-RU" sz="2400" b="1" dirty="0">
                <a:solidFill>
                  <a:srgbClr val="002060"/>
                </a:solidFill>
              </a:rPr>
              <a:t>Ц </a:t>
            </a:r>
            <a:r>
              <a:rPr lang="ru-RU" sz="2400" b="1" baseline="-25000" dirty="0">
                <a:solidFill>
                  <a:srgbClr val="002060"/>
                </a:solidFill>
              </a:rPr>
              <a:t>т уд</a:t>
            </a:r>
            <a:r>
              <a:rPr lang="ru-RU" sz="2400" b="1" dirty="0">
                <a:solidFill>
                  <a:srgbClr val="002060"/>
                </a:solidFill>
              </a:rPr>
              <a:t> = </a:t>
            </a:r>
            <a:r>
              <a:rPr lang="ru-RU" sz="2400" b="1" dirty="0" err="1">
                <a:solidFill>
                  <a:srgbClr val="002060"/>
                </a:solidFill>
              </a:rPr>
              <a:t>Ц</a:t>
            </a:r>
            <a:r>
              <a:rPr lang="ru-RU" sz="2400" b="1" baseline="-25000" dirty="0" err="1">
                <a:solidFill>
                  <a:srgbClr val="002060"/>
                </a:solidFill>
              </a:rPr>
              <a:t>т</a:t>
            </a:r>
            <a:r>
              <a:rPr lang="ru-RU" sz="2400" b="1" dirty="0">
                <a:solidFill>
                  <a:srgbClr val="002060"/>
                </a:solidFill>
              </a:rPr>
              <a:t> / </a:t>
            </a:r>
            <a:r>
              <a:rPr lang="ru-RU" sz="2400" b="1" dirty="0" err="1">
                <a:solidFill>
                  <a:srgbClr val="002060"/>
                </a:solidFill>
              </a:rPr>
              <a:t>К</a:t>
            </a:r>
            <a:r>
              <a:rPr lang="ru-RU" sz="2400" b="1" baseline="-25000" dirty="0" err="1">
                <a:solidFill>
                  <a:srgbClr val="002060"/>
                </a:solidFill>
              </a:rPr>
              <a:t>нт</a:t>
            </a:r>
            <a:endParaRPr lang="ru-RU" sz="2400" dirty="0">
              <a:solidFill>
                <a:srgbClr val="002060"/>
              </a:solidFill>
            </a:endParaRPr>
          </a:p>
          <a:p>
            <a:pPr fontAlgn="auto" hangingPunct="1"/>
            <a:r>
              <a:rPr lang="ru-RU" sz="2400" dirty="0">
                <a:solidFill>
                  <a:srgbClr val="002060"/>
                </a:solidFill>
              </a:rPr>
              <a:t> </a:t>
            </a:r>
          </a:p>
          <a:p>
            <a:pPr fontAlgn="auto" hangingPunct="1"/>
            <a:r>
              <a:rPr lang="ru-RU" sz="2400" b="1" dirty="0">
                <a:solidFill>
                  <a:srgbClr val="002060"/>
                </a:solidFill>
              </a:rPr>
              <a:t>По каждому из сравниваемых вариантов нужно</a:t>
            </a:r>
            <a:r>
              <a:rPr lang="ru-RU" sz="2400" dirty="0">
                <a:solidFill>
                  <a:srgbClr val="002060"/>
                </a:solidFill>
              </a:rPr>
              <a:t>:</a:t>
            </a:r>
          </a:p>
          <a:p>
            <a:pPr marL="342900" lvl="0" indent="-342900" fontAlgn="auto" hangingPunct="1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определить сметную </a:t>
            </a:r>
            <a:r>
              <a:rPr lang="ru-RU" sz="2400" dirty="0" smtClean="0">
                <a:solidFill>
                  <a:srgbClr val="002060"/>
                </a:solidFill>
              </a:rPr>
              <a:t>стоимость </a:t>
            </a:r>
            <a:r>
              <a:rPr lang="en-US" sz="2400" b="1" dirty="0" smtClean="0">
                <a:solidFill>
                  <a:srgbClr val="002060"/>
                </a:solidFill>
              </a:rPr>
              <a:t>S</a:t>
            </a:r>
            <a:r>
              <a:rPr lang="ru-RU" sz="2400" b="1" baseline="-25000" dirty="0">
                <a:solidFill>
                  <a:srgbClr val="002060"/>
                </a:solidFill>
              </a:rPr>
              <a:t>см</a:t>
            </a:r>
            <a:r>
              <a:rPr lang="ru-RU" sz="2400" dirty="0">
                <a:solidFill>
                  <a:srgbClr val="002060"/>
                </a:solidFill>
              </a:rPr>
              <a:t>, и цену </a:t>
            </a:r>
            <a:r>
              <a:rPr lang="ru-RU" sz="2400" b="1" dirty="0" err="1">
                <a:solidFill>
                  <a:srgbClr val="002060"/>
                </a:solidFill>
              </a:rPr>
              <a:t>Ц</a:t>
            </a:r>
            <a:r>
              <a:rPr lang="ru-RU" sz="2400" b="1" baseline="-25000" dirty="0" err="1">
                <a:solidFill>
                  <a:srgbClr val="002060"/>
                </a:solidFill>
              </a:rPr>
              <a:t>т</a:t>
            </a:r>
            <a:r>
              <a:rPr lang="ru-RU" sz="2400" b="1" baseline="-25000" dirty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темы</a:t>
            </a:r>
            <a:r>
              <a:rPr lang="ru-RU" sz="2400" dirty="0">
                <a:solidFill>
                  <a:srgbClr val="002060"/>
                </a:solidFill>
              </a:rPr>
              <a:t>;</a:t>
            </a:r>
          </a:p>
          <a:p>
            <a:pPr marL="342900" lvl="0" indent="-342900" fontAlgn="auto" hangingPunct="1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определить величину </a:t>
            </a:r>
            <a:r>
              <a:rPr lang="ru-RU" sz="2400" b="1" dirty="0" err="1" smtClean="0">
                <a:solidFill>
                  <a:srgbClr val="002060"/>
                </a:solidFill>
              </a:rPr>
              <a:t>К</a:t>
            </a:r>
            <a:r>
              <a:rPr lang="ru-RU" sz="2400" b="1" baseline="-25000" dirty="0" err="1" smtClean="0">
                <a:solidFill>
                  <a:srgbClr val="002060"/>
                </a:solidFill>
              </a:rPr>
              <a:t>нт</a:t>
            </a:r>
            <a:r>
              <a:rPr lang="ru-RU" sz="2400" dirty="0">
                <a:solidFill>
                  <a:srgbClr val="002060"/>
                </a:solidFill>
              </a:rPr>
              <a:t>;</a:t>
            </a:r>
          </a:p>
          <a:p>
            <a:pPr marL="342900" lvl="0" indent="-342900" fontAlgn="auto" hangingPunct="1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рассчитать </a:t>
            </a:r>
            <a:r>
              <a:rPr lang="ru-RU" sz="2400" dirty="0" smtClean="0">
                <a:solidFill>
                  <a:srgbClr val="002060"/>
                </a:solidFill>
              </a:rPr>
              <a:t>удельные стоимость </a:t>
            </a:r>
            <a:r>
              <a:rPr lang="en-US" sz="2400" b="1" dirty="0">
                <a:solidFill>
                  <a:srgbClr val="002060"/>
                </a:solidFill>
              </a:rPr>
              <a:t>S </a:t>
            </a:r>
            <a:r>
              <a:rPr lang="ru-RU" sz="2400" b="1" baseline="-25000" dirty="0">
                <a:solidFill>
                  <a:srgbClr val="002060"/>
                </a:solidFill>
              </a:rPr>
              <a:t>см уд</a:t>
            </a:r>
            <a:r>
              <a:rPr lang="ru-RU" sz="2400" b="1" dirty="0">
                <a:solidFill>
                  <a:srgbClr val="002060"/>
                </a:solidFill>
              </a:rPr>
              <a:t> </a:t>
            </a:r>
            <a:r>
              <a:rPr lang="ru-RU" sz="2400" b="1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и цену </a:t>
            </a:r>
            <a:r>
              <a:rPr lang="ru-RU" sz="2400" b="1" dirty="0" smtClean="0">
                <a:solidFill>
                  <a:srgbClr val="002060"/>
                </a:solidFill>
              </a:rPr>
              <a:t>Ц </a:t>
            </a:r>
            <a:r>
              <a:rPr lang="ru-RU" sz="2400" b="1" baseline="-25000" dirty="0">
                <a:solidFill>
                  <a:srgbClr val="002060"/>
                </a:solidFill>
              </a:rPr>
              <a:t>т уд</a:t>
            </a:r>
            <a:r>
              <a:rPr lang="ru-RU" sz="2400" b="1" dirty="0">
                <a:solidFill>
                  <a:srgbClr val="002060"/>
                </a:solidFill>
              </a:rPr>
              <a:t> ;</a:t>
            </a:r>
            <a:r>
              <a:rPr lang="ru-RU" sz="2400" dirty="0">
                <a:solidFill>
                  <a:srgbClr val="002060"/>
                </a:solidFill>
              </a:rPr>
              <a:t> </a:t>
            </a:r>
          </a:p>
          <a:p>
            <a:pPr marL="342900" lvl="0" indent="-342900" fontAlgn="auto" hangingPunct="1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проанализировать полученные значения, выбрав предпочтительный вариант выполнения темы.</a:t>
            </a:r>
          </a:p>
          <a:p>
            <a:pPr hangingPunct="0"/>
            <a:r>
              <a:rPr lang="ru-RU" sz="2400" dirty="0">
                <a:solidFill>
                  <a:srgbClr val="002060"/>
                </a:solidFill>
              </a:rPr>
              <a:t> </a:t>
            </a:r>
          </a:p>
          <a:p>
            <a:pPr hangingPunct="0"/>
            <a:r>
              <a:rPr lang="ru-RU" sz="2400" dirty="0">
                <a:solidFill>
                  <a:srgbClr val="002060"/>
                </a:solidFill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88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92696"/>
          </a:xfrm>
        </p:spPr>
        <p:txBody>
          <a:bodyPr/>
          <a:lstStyle/>
          <a:p>
            <a:pPr lvl="0"/>
            <a:r>
              <a:rPr lang="ru-RU" b="1" dirty="0" smtClean="0">
                <a:solidFill>
                  <a:srgbClr val="C00000"/>
                </a:solidFill>
              </a:rPr>
              <a:t>Эффект НИР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44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7302" y="925067"/>
            <a:ext cx="9047790" cy="480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-25400" algn="just" hangingPunct="0">
              <a:lnSpc>
                <a:spcPct val="115000"/>
              </a:lnSpc>
              <a:spcAft>
                <a:spcPts val="0"/>
              </a:spcAft>
            </a:pPr>
            <a:endParaRPr lang="ru-RU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7302" y="675169"/>
            <a:ext cx="893919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endParaRPr lang="ru-RU" sz="2800" b="1" dirty="0" smtClean="0">
              <a:solidFill>
                <a:srgbClr val="002060"/>
              </a:solidFill>
            </a:endParaRPr>
          </a:p>
          <a:p>
            <a:pPr fontAlgn="auto" hangingPunct="1"/>
            <a:r>
              <a:rPr lang="ru-RU" sz="2800" b="1" dirty="0">
                <a:solidFill>
                  <a:srgbClr val="002060"/>
                </a:solidFill>
              </a:rPr>
              <a:t>Абсолютная экономия затрат</a:t>
            </a:r>
            <a:r>
              <a:rPr lang="ru-RU" sz="2800" dirty="0">
                <a:solidFill>
                  <a:srgbClr val="002060"/>
                </a:solidFill>
              </a:rPr>
              <a:t> (сметной </a:t>
            </a:r>
            <a:r>
              <a:rPr lang="ru-RU" sz="2800" dirty="0" smtClean="0">
                <a:solidFill>
                  <a:srgbClr val="002060"/>
                </a:solidFill>
              </a:rPr>
              <a:t>стоимости </a:t>
            </a:r>
            <a:r>
              <a:rPr lang="ru-RU" sz="2800" dirty="0">
                <a:solidFill>
                  <a:srgbClr val="002060"/>
                </a:solidFill>
              </a:rPr>
              <a:t>темы), необходимых для получения сопоставимых результатов, выражаемая экономическим эффектом </a:t>
            </a:r>
          </a:p>
          <a:p>
            <a:pPr fontAlgn="auto" hangingPunct="1"/>
            <a:r>
              <a:rPr lang="ru-RU" sz="2800" dirty="0">
                <a:solidFill>
                  <a:srgbClr val="002060"/>
                </a:solidFill>
              </a:rPr>
              <a:t> </a:t>
            </a:r>
          </a:p>
          <a:p>
            <a:pPr fontAlgn="auto" hangingPunct="1"/>
            <a:r>
              <a:rPr lang="ru-RU" sz="2800" b="1" dirty="0">
                <a:solidFill>
                  <a:srgbClr val="002060"/>
                </a:solidFill>
              </a:rPr>
              <a:t>Э</a:t>
            </a:r>
            <a:r>
              <a:rPr lang="en-US" sz="2800" b="1" dirty="0">
                <a:solidFill>
                  <a:srgbClr val="002060"/>
                </a:solidFill>
              </a:rPr>
              <a:t> = S </a:t>
            </a:r>
            <a:r>
              <a:rPr lang="ru-RU" sz="2800" b="1" baseline="-25000" dirty="0">
                <a:solidFill>
                  <a:srgbClr val="002060"/>
                </a:solidFill>
              </a:rPr>
              <a:t>см</a:t>
            </a:r>
            <a:r>
              <a:rPr lang="en-US" sz="2800" b="1" baseline="-25000" dirty="0">
                <a:solidFill>
                  <a:srgbClr val="002060"/>
                </a:solidFill>
              </a:rPr>
              <a:t>1  </a:t>
            </a:r>
            <a:r>
              <a:rPr lang="en-US" sz="2800" b="1" dirty="0">
                <a:solidFill>
                  <a:srgbClr val="002060"/>
                </a:solidFill>
              </a:rPr>
              <a:t>– S </a:t>
            </a:r>
            <a:r>
              <a:rPr lang="ru-RU" sz="2800" b="1" baseline="-25000" dirty="0">
                <a:solidFill>
                  <a:srgbClr val="002060"/>
                </a:solidFill>
              </a:rPr>
              <a:t>см</a:t>
            </a:r>
            <a:r>
              <a:rPr lang="en-US" sz="2800" b="1" baseline="-25000" dirty="0">
                <a:solidFill>
                  <a:srgbClr val="002060"/>
                </a:solidFill>
              </a:rPr>
              <a:t>2  </a:t>
            </a:r>
            <a:r>
              <a:rPr lang="en-US" sz="2800" b="1" dirty="0">
                <a:solidFill>
                  <a:srgbClr val="002060"/>
                </a:solidFill>
              </a:rPr>
              <a:t>= 10 800 – 10 300  = 500 </a:t>
            </a:r>
            <a:r>
              <a:rPr lang="ru-RU" sz="2800" dirty="0" err="1">
                <a:solidFill>
                  <a:srgbClr val="002060"/>
                </a:solidFill>
              </a:rPr>
              <a:t>тыс</a:t>
            </a:r>
            <a:r>
              <a:rPr lang="en-US" sz="2800" dirty="0">
                <a:solidFill>
                  <a:srgbClr val="002060"/>
                </a:solidFill>
              </a:rPr>
              <a:t>. </a:t>
            </a:r>
            <a:r>
              <a:rPr lang="ru-RU" sz="2800" dirty="0" err="1">
                <a:solidFill>
                  <a:srgbClr val="002060"/>
                </a:solidFill>
              </a:rPr>
              <a:t>руб</a:t>
            </a:r>
            <a:r>
              <a:rPr lang="en-US" sz="2800" dirty="0">
                <a:solidFill>
                  <a:srgbClr val="002060"/>
                </a:solidFill>
              </a:rPr>
              <a:t>.;</a:t>
            </a:r>
            <a:endParaRPr lang="ru-RU" sz="2800" dirty="0">
              <a:solidFill>
                <a:srgbClr val="002060"/>
              </a:solidFill>
            </a:endParaRPr>
          </a:p>
          <a:p>
            <a:pPr fontAlgn="auto" hangingPunct="1"/>
            <a:r>
              <a:rPr lang="en-US" sz="2800" dirty="0">
                <a:solidFill>
                  <a:srgbClr val="002060"/>
                </a:solidFill>
              </a:rPr>
              <a:t> </a:t>
            </a:r>
            <a:endParaRPr lang="ru-RU" sz="2800" dirty="0">
              <a:solidFill>
                <a:srgbClr val="002060"/>
              </a:solidFill>
            </a:endParaRPr>
          </a:p>
          <a:p>
            <a:pPr fontAlgn="auto" hangingPunct="1"/>
            <a:r>
              <a:rPr lang="ru-RU" sz="2800" b="1" dirty="0">
                <a:solidFill>
                  <a:srgbClr val="002060"/>
                </a:solidFill>
              </a:rPr>
              <a:t>Относительная экономия </a:t>
            </a:r>
            <a:r>
              <a:rPr lang="ru-RU" sz="2800" dirty="0">
                <a:solidFill>
                  <a:srgbClr val="002060"/>
                </a:solidFill>
              </a:rPr>
              <a:t>затрат (сметной </a:t>
            </a:r>
            <a:r>
              <a:rPr lang="ru-RU" sz="2800" dirty="0" smtClean="0">
                <a:solidFill>
                  <a:srgbClr val="002060"/>
                </a:solidFill>
              </a:rPr>
              <a:t>стоимости </a:t>
            </a:r>
            <a:r>
              <a:rPr lang="ru-RU" sz="2800" dirty="0">
                <a:solidFill>
                  <a:srgbClr val="002060"/>
                </a:solidFill>
              </a:rPr>
              <a:t>темы)</a:t>
            </a:r>
          </a:p>
          <a:p>
            <a:pPr fontAlgn="auto"/>
            <a:r>
              <a:rPr lang="ru-RU" sz="2800" dirty="0">
                <a:solidFill>
                  <a:srgbClr val="002060"/>
                </a:solidFill>
              </a:rPr>
              <a:t> </a:t>
            </a:r>
            <a:endParaRPr lang="ru-RU" sz="2800" dirty="0" smtClean="0">
              <a:solidFill>
                <a:srgbClr val="002060"/>
              </a:solidFill>
            </a:endParaRPr>
          </a:p>
          <a:p>
            <a:pPr fontAlgn="auto"/>
            <a:r>
              <a:rPr lang="ru-RU" sz="2800" b="1" dirty="0" err="1" smtClean="0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 smtClean="0">
                <a:solidFill>
                  <a:srgbClr val="002060"/>
                </a:solidFill>
              </a:rPr>
              <a:t>отн</a:t>
            </a:r>
            <a:r>
              <a:rPr lang="ru-RU" sz="2800" b="1" dirty="0" smtClean="0">
                <a:solidFill>
                  <a:srgbClr val="002060"/>
                </a:solidFill>
              </a:rPr>
              <a:t>  </a:t>
            </a:r>
            <a:r>
              <a:rPr lang="ru-RU" sz="2800" b="1" dirty="0">
                <a:solidFill>
                  <a:srgbClr val="002060"/>
                </a:solidFill>
              </a:rPr>
              <a:t>= (Э /</a:t>
            </a:r>
            <a:r>
              <a:rPr lang="en-US" sz="2800" b="1" dirty="0">
                <a:solidFill>
                  <a:srgbClr val="002060"/>
                </a:solidFill>
              </a:rPr>
              <a:t>S </a:t>
            </a:r>
            <a:r>
              <a:rPr lang="ru-RU" sz="2800" b="1" baseline="-25000" dirty="0">
                <a:solidFill>
                  <a:srgbClr val="002060"/>
                </a:solidFill>
              </a:rPr>
              <a:t>см1</a:t>
            </a:r>
            <a:r>
              <a:rPr lang="ru-RU" sz="2800" b="1" dirty="0">
                <a:solidFill>
                  <a:srgbClr val="002060"/>
                </a:solidFill>
              </a:rPr>
              <a:t>)</a:t>
            </a:r>
            <a:r>
              <a:rPr 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sz="2800" b="1" dirty="0">
                <a:solidFill>
                  <a:srgbClr val="002060"/>
                </a:solidFill>
              </a:rPr>
              <a:t>*100</a:t>
            </a:r>
            <a:r>
              <a:rPr lang="ru-RU" sz="2800" b="1" baseline="-25000" dirty="0">
                <a:solidFill>
                  <a:srgbClr val="002060"/>
                </a:solidFill>
              </a:rPr>
              <a:t>% </a:t>
            </a:r>
            <a:r>
              <a:rPr lang="ru-RU" sz="2800" b="1" dirty="0">
                <a:solidFill>
                  <a:srgbClr val="002060"/>
                </a:solidFill>
              </a:rPr>
              <a:t>= (500/ 10 800) *100  = 4,63%</a:t>
            </a:r>
            <a:endParaRPr lang="ru-RU" sz="2800" dirty="0">
              <a:solidFill>
                <a:srgbClr val="002060"/>
              </a:solidFill>
            </a:endParaRPr>
          </a:p>
          <a:p>
            <a:pPr fontAlgn="auto" hangingPunct="1"/>
            <a:endParaRPr lang="ru-RU" sz="2800" dirty="0">
              <a:solidFill>
                <a:srgbClr val="002060"/>
              </a:solidFill>
            </a:endParaRPr>
          </a:p>
          <a:p>
            <a:pPr fontAlgn="auto" hangingPunct="1"/>
            <a:endParaRPr lang="ru-RU" sz="2800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1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6397" y="-17527"/>
            <a:ext cx="8229600" cy="692696"/>
          </a:xfrm>
        </p:spPr>
        <p:txBody>
          <a:bodyPr/>
          <a:lstStyle/>
          <a:p>
            <a:pPr lvl="0"/>
            <a:r>
              <a:rPr lang="ru-RU" b="1" dirty="0" smtClean="0">
                <a:solidFill>
                  <a:srgbClr val="C00000"/>
                </a:solidFill>
              </a:rPr>
              <a:t>Эффективность НИР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mtClean="0"/>
              <a:pPr>
                <a:defRPr/>
              </a:pPr>
              <a:t>45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7302" y="925067"/>
            <a:ext cx="9047790" cy="480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-25400" algn="just" hangingPunct="0">
              <a:lnSpc>
                <a:spcPct val="115000"/>
              </a:lnSpc>
              <a:spcAft>
                <a:spcPts val="0"/>
              </a:spcAft>
            </a:pPr>
            <a:endParaRPr lang="ru-RU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7302" y="675169"/>
            <a:ext cx="893919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ru-RU" sz="2400" b="1" dirty="0" smtClean="0">
                <a:solidFill>
                  <a:srgbClr val="002060"/>
                </a:solidFill>
              </a:rPr>
              <a:t>Экономия </a:t>
            </a:r>
            <a:r>
              <a:rPr lang="ru-RU" sz="2400" b="1" dirty="0">
                <a:solidFill>
                  <a:srgbClr val="002060"/>
                </a:solidFill>
              </a:rPr>
              <a:t>затрат (сметной </a:t>
            </a:r>
            <a:r>
              <a:rPr lang="ru-RU" sz="2400" b="1" dirty="0" smtClean="0">
                <a:solidFill>
                  <a:srgbClr val="002060"/>
                </a:solidFill>
              </a:rPr>
              <a:t>стоимости) на </a:t>
            </a:r>
            <a:r>
              <a:rPr lang="ru-RU" sz="2400" b="1" dirty="0">
                <a:solidFill>
                  <a:srgbClr val="002060"/>
                </a:solidFill>
              </a:rPr>
              <a:t>1% роста</a:t>
            </a:r>
            <a:r>
              <a:rPr lang="ru-RU" sz="2400" dirty="0">
                <a:solidFill>
                  <a:srgbClr val="002060"/>
                </a:solidFill>
              </a:rPr>
              <a:t> вероятности выполнения боевой задачи:</a:t>
            </a:r>
          </a:p>
          <a:p>
            <a:pPr algn="ctr" hangingPunct="0"/>
            <a:r>
              <a:rPr lang="ru-RU" sz="2400" dirty="0"/>
              <a:t> </a:t>
            </a:r>
            <a:endParaRPr lang="ru-RU" sz="2400" dirty="0" smtClean="0"/>
          </a:p>
          <a:p>
            <a:pPr algn="ctr" hangingPunct="0"/>
            <a:r>
              <a:rPr lang="ru-RU" sz="2400" b="1" i="1" dirty="0" smtClean="0">
                <a:solidFill>
                  <a:srgbClr val="C00000"/>
                </a:solidFill>
              </a:rPr>
              <a:t>По </a:t>
            </a:r>
            <a:r>
              <a:rPr lang="ru-RU" sz="2400" b="1" i="1" dirty="0">
                <a:solidFill>
                  <a:srgbClr val="C00000"/>
                </a:solidFill>
              </a:rPr>
              <a:t>оптимистическому прогнозу:</a:t>
            </a:r>
            <a:endParaRPr lang="ru-RU" sz="2400" dirty="0">
              <a:solidFill>
                <a:srgbClr val="C00000"/>
              </a:solidFill>
            </a:endParaRPr>
          </a:p>
          <a:p>
            <a:pPr hangingPunct="0"/>
            <a:r>
              <a:rPr lang="ru-RU" sz="2400" b="1" i="1" dirty="0"/>
              <a:t> </a:t>
            </a:r>
            <a:endParaRPr lang="ru-RU" sz="2400" dirty="0"/>
          </a:p>
          <a:p>
            <a:pPr fontAlgn="auto" hangingPunct="1"/>
            <a:r>
              <a:rPr lang="ru-RU" sz="2800" b="1" dirty="0" err="1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>
                <a:solidFill>
                  <a:srgbClr val="002060"/>
                </a:solidFill>
              </a:rPr>
              <a:t>уд</a:t>
            </a:r>
            <a:r>
              <a:rPr lang="ru-RU" sz="2800" b="1" dirty="0">
                <a:solidFill>
                  <a:srgbClr val="002060"/>
                </a:solidFill>
              </a:rPr>
              <a:t> = </a:t>
            </a:r>
            <a:r>
              <a:rPr lang="en-US" sz="2800" b="1" dirty="0">
                <a:solidFill>
                  <a:srgbClr val="002060"/>
                </a:solidFill>
              </a:rPr>
              <a:t>S </a:t>
            </a:r>
            <a:r>
              <a:rPr lang="ru-RU" sz="2800" b="1" baseline="-25000" dirty="0">
                <a:solidFill>
                  <a:srgbClr val="002060"/>
                </a:solidFill>
              </a:rPr>
              <a:t>см уд о1 </a:t>
            </a:r>
            <a:r>
              <a:rPr lang="ru-RU" sz="2800" b="1" dirty="0">
                <a:solidFill>
                  <a:srgbClr val="002060"/>
                </a:solidFill>
              </a:rPr>
              <a:t>– </a:t>
            </a:r>
            <a:r>
              <a:rPr lang="en-US" sz="2800" b="1" dirty="0">
                <a:solidFill>
                  <a:srgbClr val="002060"/>
                </a:solidFill>
              </a:rPr>
              <a:t>S </a:t>
            </a:r>
            <a:r>
              <a:rPr lang="ru-RU" sz="2800" b="1" baseline="-25000" dirty="0">
                <a:solidFill>
                  <a:srgbClr val="002060"/>
                </a:solidFill>
              </a:rPr>
              <a:t>см уд о2 </a:t>
            </a:r>
            <a:r>
              <a:rPr lang="ru-RU" sz="2800" b="1" dirty="0">
                <a:solidFill>
                  <a:srgbClr val="002060"/>
                </a:solidFill>
              </a:rPr>
              <a:t>= 960 – 864  = 96 </a:t>
            </a:r>
            <a:r>
              <a:rPr lang="ru-RU" sz="2800" dirty="0" err="1" smtClean="0">
                <a:solidFill>
                  <a:srgbClr val="002060"/>
                </a:solidFill>
              </a:rPr>
              <a:t>т.р</a:t>
            </a:r>
            <a:r>
              <a:rPr lang="ru-RU" sz="2800" dirty="0" smtClean="0">
                <a:solidFill>
                  <a:srgbClr val="002060"/>
                </a:solidFill>
              </a:rPr>
              <a:t>. </a:t>
            </a:r>
            <a:r>
              <a:rPr lang="ru-RU" sz="2800" dirty="0">
                <a:solidFill>
                  <a:srgbClr val="002060"/>
                </a:solidFill>
              </a:rPr>
              <a:t>/%</a:t>
            </a:r>
            <a:r>
              <a:rPr lang="ru-RU" sz="2800" b="1" dirty="0">
                <a:solidFill>
                  <a:srgbClr val="002060"/>
                </a:solidFill>
              </a:rPr>
              <a:t>;</a:t>
            </a:r>
            <a:endParaRPr lang="ru-RU" sz="2800" dirty="0">
              <a:solidFill>
                <a:srgbClr val="002060"/>
              </a:solidFill>
            </a:endParaRPr>
          </a:p>
          <a:p>
            <a:pPr hangingPunct="0"/>
            <a:r>
              <a:rPr lang="ru-RU" sz="2800" dirty="0">
                <a:solidFill>
                  <a:srgbClr val="002060"/>
                </a:solidFill>
              </a:rPr>
              <a:t> </a:t>
            </a:r>
          </a:p>
          <a:p>
            <a:pPr fontAlgn="auto" hangingPunct="1"/>
            <a:r>
              <a:rPr lang="ru-RU" sz="2800" b="1" dirty="0" err="1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>
                <a:solidFill>
                  <a:srgbClr val="002060"/>
                </a:solidFill>
              </a:rPr>
              <a:t>уд</a:t>
            </a:r>
            <a:r>
              <a:rPr lang="ru-RU" sz="2800" b="1" dirty="0">
                <a:solidFill>
                  <a:srgbClr val="002060"/>
                </a:solidFill>
              </a:rPr>
              <a:t> </a:t>
            </a:r>
            <a:r>
              <a:rPr lang="ru-RU" sz="2800" b="1" baseline="-25000" dirty="0" err="1">
                <a:solidFill>
                  <a:srgbClr val="002060"/>
                </a:solidFill>
              </a:rPr>
              <a:t>отн</a:t>
            </a:r>
            <a:r>
              <a:rPr lang="ru-RU" sz="2800" b="1" dirty="0">
                <a:solidFill>
                  <a:srgbClr val="002060"/>
                </a:solidFill>
              </a:rPr>
              <a:t> </a:t>
            </a:r>
            <a:r>
              <a:rPr lang="ru-RU" sz="2800" b="1" dirty="0" smtClean="0">
                <a:solidFill>
                  <a:srgbClr val="002060"/>
                </a:solidFill>
              </a:rPr>
              <a:t>= </a:t>
            </a:r>
            <a:r>
              <a:rPr lang="ru-RU" sz="2800" b="1" dirty="0">
                <a:solidFill>
                  <a:srgbClr val="002060"/>
                </a:solidFill>
              </a:rPr>
              <a:t>(</a:t>
            </a:r>
            <a:r>
              <a:rPr lang="ru-RU" sz="2800" b="1" dirty="0" err="1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>
                <a:solidFill>
                  <a:srgbClr val="002060"/>
                </a:solidFill>
              </a:rPr>
              <a:t>уд</a:t>
            </a:r>
            <a:r>
              <a:rPr lang="ru-RU" sz="2800" b="1" dirty="0">
                <a:solidFill>
                  <a:srgbClr val="002060"/>
                </a:solidFill>
              </a:rPr>
              <a:t> / </a:t>
            </a:r>
            <a:r>
              <a:rPr lang="en-US" sz="2800" b="1" dirty="0" smtClean="0">
                <a:solidFill>
                  <a:srgbClr val="002060"/>
                </a:solidFill>
              </a:rPr>
              <a:t>S</a:t>
            </a:r>
            <a:r>
              <a:rPr lang="ru-RU" sz="2800" b="1" baseline="-25000" dirty="0" smtClean="0">
                <a:solidFill>
                  <a:srgbClr val="002060"/>
                </a:solidFill>
              </a:rPr>
              <a:t>см </a:t>
            </a:r>
            <a:r>
              <a:rPr lang="ru-RU" sz="2800" b="1" baseline="-25000" dirty="0">
                <a:solidFill>
                  <a:srgbClr val="002060"/>
                </a:solidFill>
              </a:rPr>
              <a:t>уд о1</a:t>
            </a:r>
            <a:r>
              <a:rPr lang="ru-RU" sz="2800" b="1" dirty="0">
                <a:solidFill>
                  <a:srgbClr val="002060"/>
                </a:solidFill>
              </a:rPr>
              <a:t>)</a:t>
            </a:r>
            <a:r>
              <a:rPr lang="ru-RU" sz="2800" b="1" baseline="-25000" dirty="0">
                <a:solidFill>
                  <a:srgbClr val="002060"/>
                </a:solidFill>
              </a:rPr>
              <a:t> </a:t>
            </a:r>
            <a:r>
              <a:rPr lang="ru-RU" sz="2800" b="1" dirty="0">
                <a:solidFill>
                  <a:srgbClr val="002060"/>
                </a:solidFill>
              </a:rPr>
              <a:t>*100</a:t>
            </a:r>
            <a:r>
              <a:rPr lang="ru-RU" sz="2800" b="1" baseline="-25000" dirty="0">
                <a:solidFill>
                  <a:srgbClr val="002060"/>
                </a:solidFill>
              </a:rPr>
              <a:t>% </a:t>
            </a:r>
            <a:r>
              <a:rPr lang="ru-RU" sz="2800" b="1" dirty="0">
                <a:solidFill>
                  <a:srgbClr val="002060"/>
                </a:solidFill>
              </a:rPr>
              <a:t>= (96/ 960 ) *100  = 10%</a:t>
            </a:r>
            <a:endParaRPr lang="ru-RU" sz="2800" dirty="0">
              <a:solidFill>
                <a:srgbClr val="002060"/>
              </a:solidFill>
            </a:endParaRPr>
          </a:p>
          <a:p>
            <a:pPr fontAlgn="auto" hangingPunct="1"/>
            <a:r>
              <a:rPr lang="ru-RU" sz="2800" b="1" dirty="0"/>
              <a:t> </a:t>
            </a:r>
            <a:endParaRPr lang="ru-RU" sz="2800" dirty="0"/>
          </a:p>
          <a:p>
            <a:pPr lvl="0" algn="ctr" hangingPunct="0"/>
            <a:r>
              <a:rPr lang="ru-RU" sz="2400" b="1" i="1" dirty="0">
                <a:solidFill>
                  <a:srgbClr val="C00000"/>
                </a:solidFill>
              </a:rPr>
              <a:t>По пессимистическому прогнозу:</a:t>
            </a:r>
            <a:endParaRPr lang="ru-RU" sz="2400" dirty="0">
              <a:solidFill>
                <a:srgbClr val="C00000"/>
              </a:solidFill>
            </a:endParaRPr>
          </a:p>
          <a:p>
            <a:pPr hangingPunct="0"/>
            <a:r>
              <a:rPr lang="ru-RU" sz="2400" b="1" i="1" dirty="0"/>
              <a:t> </a:t>
            </a:r>
            <a:endParaRPr lang="ru-RU" sz="2400" dirty="0"/>
          </a:p>
          <a:p>
            <a:pPr fontAlgn="auto" hangingPunct="1"/>
            <a:r>
              <a:rPr lang="ru-RU" sz="2800" b="1" dirty="0" err="1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>
                <a:solidFill>
                  <a:srgbClr val="002060"/>
                </a:solidFill>
              </a:rPr>
              <a:t>уд</a:t>
            </a:r>
            <a:r>
              <a:rPr lang="ru-RU" sz="2800" b="1" dirty="0">
                <a:solidFill>
                  <a:srgbClr val="002060"/>
                </a:solidFill>
              </a:rPr>
              <a:t> = </a:t>
            </a:r>
            <a:r>
              <a:rPr lang="en-US" sz="2800" b="1" dirty="0" smtClean="0">
                <a:solidFill>
                  <a:srgbClr val="002060"/>
                </a:solidFill>
              </a:rPr>
              <a:t>S</a:t>
            </a:r>
            <a:r>
              <a:rPr lang="ru-RU" sz="2800" b="1" baseline="-25000" dirty="0" smtClean="0">
                <a:solidFill>
                  <a:srgbClr val="002060"/>
                </a:solidFill>
              </a:rPr>
              <a:t>см </a:t>
            </a:r>
            <a:r>
              <a:rPr lang="ru-RU" sz="2800" b="1" baseline="-25000" dirty="0">
                <a:solidFill>
                  <a:srgbClr val="002060"/>
                </a:solidFill>
              </a:rPr>
              <a:t>уд песс1 </a:t>
            </a:r>
            <a:r>
              <a:rPr lang="ru-RU" sz="2800" b="1" dirty="0">
                <a:solidFill>
                  <a:srgbClr val="002060"/>
                </a:solidFill>
              </a:rPr>
              <a:t>– </a:t>
            </a:r>
            <a:r>
              <a:rPr lang="en-US" sz="2800" b="1" dirty="0">
                <a:solidFill>
                  <a:srgbClr val="002060"/>
                </a:solidFill>
              </a:rPr>
              <a:t>S </a:t>
            </a:r>
            <a:r>
              <a:rPr lang="ru-RU" sz="2800" b="1" baseline="-25000" dirty="0">
                <a:solidFill>
                  <a:srgbClr val="002060"/>
                </a:solidFill>
              </a:rPr>
              <a:t>см уд п2 </a:t>
            </a:r>
            <a:r>
              <a:rPr lang="ru-RU" sz="2800" b="1" dirty="0">
                <a:solidFill>
                  <a:srgbClr val="002060"/>
                </a:solidFill>
              </a:rPr>
              <a:t>= 1430 – 1215 = 215 </a:t>
            </a:r>
            <a:r>
              <a:rPr lang="ru-RU" sz="2800" dirty="0" err="1" smtClean="0">
                <a:solidFill>
                  <a:srgbClr val="002060"/>
                </a:solidFill>
              </a:rPr>
              <a:t>т.р</a:t>
            </a:r>
            <a:r>
              <a:rPr lang="ru-RU" sz="2800" dirty="0" smtClean="0">
                <a:solidFill>
                  <a:srgbClr val="002060"/>
                </a:solidFill>
              </a:rPr>
              <a:t>./%</a:t>
            </a:r>
            <a:r>
              <a:rPr lang="ru-RU" sz="2800" b="1" dirty="0" smtClean="0">
                <a:solidFill>
                  <a:srgbClr val="002060"/>
                </a:solidFill>
              </a:rPr>
              <a:t>;</a:t>
            </a:r>
            <a:endParaRPr lang="ru-RU" sz="2800" dirty="0">
              <a:solidFill>
                <a:srgbClr val="002060"/>
              </a:solidFill>
            </a:endParaRPr>
          </a:p>
          <a:p>
            <a:pPr hangingPunct="0"/>
            <a:r>
              <a:rPr lang="ru-RU" sz="2800" dirty="0">
                <a:solidFill>
                  <a:srgbClr val="002060"/>
                </a:solidFill>
              </a:rPr>
              <a:t> </a:t>
            </a:r>
          </a:p>
          <a:p>
            <a:pPr fontAlgn="auto" hangingPunct="1"/>
            <a:r>
              <a:rPr lang="ru-RU" sz="2800" b="1" dirty="0" err="1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>
                <a:solidFill>
                  <a:srgbClr val="002060"/>
                </a:solidFill>
              </a:rPr>
              <a:t>уд</a:t>
            </a:r>
            <a:r>
              <a:rPr lang="ru-RU" sz="2800" b="1" dirty="0">
                <a:solidFill>
                  <a:srgbClr val="002060"/>
                </a:solidFill>
              </a:rPr>
              <a:t> </a:t>
            </a:r>
            <a:r>
              <a:rPr lang="ru-RU" sz="2800" b="1" baseline="-25000" dirty="0" err="1" smtClean="0">
                <a:solidFill>
                  <a:srgbClr val="002060"/>
                </a:solidFill>
              </a:rPr>
              <a:t>отн</a:t>
            </a:r>
            <a:r>
              <a:rPr lang="ru-RU" sz="2800" b="1" dirty="0" smtClean="0">
                <a:solidFill>
                  <a:srgbClr val="002060"/>
                </a:solidFill>
              </a:rPr>
              <a:t>=(</a:t>
            </a:r>
            <a:r>
              <a:rPr lang="ru-RU" sz="2800" b="1" dirty="0" err="1">
                <a:solidFill>
                  <a:srgbClr val="002060"/>
                </a:solidFill>
              </a:rPr>
              <a:t>Э</a:t>
            </a:r>
            <a:r>
              <a:rPr lang="ru-RU" sz="2800" b="1" baseline="-25000" dirty="0" err="1">
                <a:solidFill>
                  <a:srgbClr val="002060"/>
                </a:solidFill>
              </a:rPr>
              <a:t>уд</a:t>
            </a:r>
            <a:r>
              <a:rPr lang="ru-RU" sz="2800" b="1" dirty="0">
                <a:solidFill>
                  <a:srgbClr val="002060"/>
                </a:solidFill>
              </a:rPr>
              <a:t> / </a:t>
            </a:r>
            <a:r>
              <a:rPr lang="en-US" sz="2800" b="1" dirty="0" smtClean="0">
                <a:solidFill>
                  <a:srgbClr val="002060"/>
                </a:solidFill>
              </a:rPr>
              <a:t>S</a:t>
            </a:r>
            <a:r>
              <a:rPr lang="ru-RU" sz="2800" b="1" baseline="-25000" dirty="0" smtClean="0">
                <a:solidFill>
                  <a:srgbClr val="002060"/>
                </a:solidFill>
              </a:rPr>
              <a:t>см </a:t>
            </a:r>
            <a:r>
              <a:rPr lang="ru-RU" sz="2800" b="1" baseline="-25000" dirty="0">
                <a:solidFill>
                  <a:srgbClr val="002060"/>
                </a:solidFill>
              </a:rPr>
              <a:t>уд п1</a:t>
            </a:r>
            <a:r>
              <a:rPr lang="ru-RU" sz="2800" b="1" dirty="0" smtClean="0">
                <a:solidFill>
                  <a:srgbClr val="002060"/>
                </a:solidFill>
              </a:rPr>
              <a:t>)*</a:t>
            </a:r>
            <a:r>
              <a:rPr lang="ru-RU" sz="2800" b="1" dirty="0">
                <a:solidFill>
                  <a:srgbClr val="002060"/>
                </a:solidFill>
              </a:rPr>
              <a:t>100</a:t>
            </a:r>
            <a:r>
              <a:rPr lang="ru-RU" sz="2800" b="1" baseline="-25000" dirty="0">
                <a:solidFill>
                  <a:srgbClr val="002060"/>
                </a:solidFill>
              </a:rPr>
              <a:t>% </a:t>
            </a:r>
            <a:r>
              <a:rPr lang="ru-RU" sz="2800" b="1" dirty="0">
                <a:solidFill>
                  <a:srgbClr val="002060"/>
                </a:solidFill>
              </a:rPr>
              <a:t>= (</a:t>
            </a:r>
            <a:r>
              <a:rPr lang="ru-RU" sz="2800" b="1" dirty="0" smtClean="0">
                <a:solidFill>
                  <a:srgbClr val="002060"/>
                </a:solidFill>
              </a:rPr>
              <a:t>215/1430 </a:t>
            </a:r>
            <a:r>
              <a:rPr lang="ru-RU" sz="2800" b="1" dirty="0">
                <a:solidFill>
                  <a:srgbClr val="002060"/>
                </a:solidFill>
              </a:rPr>
              <a:t>) *100  = 15</a:t>
            </a:r>
            <a:r>
              <a:rPr lang="ru-RU" sz="2800" b="1" dirty="0" smtClean="0">
                <a:solidFill>
                  <a:srgbClr val="002060"/>
                </a:solidFill>
              </a:rPr>
              <a:t>%</a:t>
            </a:r>
            <a:endParaRPr lang="ru-RU" sz="2800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8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94930"/>
            <a:ext cx="8229600" cy="1008112"/>
          </a:xfrm>
        </p:spPr>
        <p:txBody>
          <a:bodyPr/>
          <a:lstStyle/>
          <a:p>
            <a:r>
              <a:rPr lang="ru-RU" sz="4000" b="1" dirty="0" smtClean="0">
                <a:solidFill>
                  <a:srgbClr val="C00000"/>
                </a:solidFill>
              </a:rPr>
              <a:t>Литература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z="2000" smtClean="0"/>
              <a:pPr>
                <a:defRPr/>
              </a:pPr>
              <a:t>46</a:t>
            </a:fld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2859" y="965041"/>
            <a:ext cx="84339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ru-RU" sz="2400" b="1" i="1" dirty="0" smtClean="0">
              <a:solidFill>
                <a:srgbClr val="C00000"/>
              </a:solidFill>
            </a:endParaRPr>
          </a:p>
          <a:p>
            <a:pPr algn="just"/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324544" y="692696"/>
            <a:ext cx="9793088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</a:rPr>
              <a:t>Организация и планирование машиностроительного производства (производственный менеджмент): Учебник /К.А. Грачёва, М.К. Захарова, Л.АП. Одинцова и др.; Под ред. Ю.В. Скворцова, Л.А Некрасова. – М.: «Высшая школа», 2005. – 470 с.: ил. IS</a:t>
            </a:r>
            <a:r>
              <a:rPr lang="en-US" sz="2200" dirty="0">
                <a:solidFill>
                  <a:srgbClr val="002060"/>
                </a:solidFill>
                <a:latin typeface="+mn-lt"/>
              </a:rPr>
              <a:t>B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N 5-06-004229-4. </a:t>
            </a:r>
          </a:p>
          <a:p>
            <a:pPr lvl="1" indent="-457200"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</a:rPr>
              <a:t>Практикум по организации и планированию машиностроительного производства. Производственный менеджмент: Учеб. Пособие/Е.В. Алексеева, В.М. Воронин, К.А. Грачёва и др.; Под ред. Ю.В. Скворцова. – 2-е изд., 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испр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. – М.: 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Высш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. 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шк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., 2008. – 430 с.: ил. IS</a:t>
            </a:r>
            <a:r>
              <a:rPr lang="en-US" sz="2200" dirty="0">
                <a:solidFill>
                  <a:srgbClr val="002060"/>
                </a:solidFill>
                <a:latin typeface="+mn-lt"/>
              </a:rPr>
              <a:t>B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N 978-5-06-005956-4. </a:t>
            </a:r>
          </a:p>
          <a:p>
            <a:pPr lvl="1" indent="-457200"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</a:rPr>
              <a:t>Соболевская А.А., Попов А.К. Постиндустриальная революция в сфере труда. – М.: ИМЭМО РАН, 2009. – 205 </a:t>
            </a:r>
            <a:r>
              <a:rPr lang="en-US" sz="2200" dirty="0">
                <a:solidFill>
                  <a:srgbClr val="002060"/>
                </a:solidFill>
                <a:latin typeface="+mn-lt"/>
              </a:rPr>
              <a:t>c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.</a:t>
            </a:r>
          </a:p>
          <a:p>
            <a:pPr lvl="1" indent="-457200"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</a:rPr>
              <a:t>Савельева Е.А. Цифровая организация труда: направления, принципы, подходы // Экономика труда. – 2018. – Том 5. – № 4. – С. 935 – 950. 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doi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: 10.18334/et.5.4.39642</a:t>
            </a:r>
          </a:p>
          <a:p>
            <a:pPr lvl="1" indent="-457200">
              <a:buFont typeface="+mj-lt"/>
              <a:buAutoNum type="arabicPeriod"/>
            </a:pPr>
            <a:r>
              <a:rPr lang="ru-RU" sz="2200" dirty="0">
                <a:solidFill>
                  <a:srgbClr val="002060"/>
                </a:solidFill>
                <a:latin typeface="+mn-lt"/>
              </a:rPr>
              <a:t>Тихомирова Т. П. Организация, нормирование и оплата труда на предприятии [Текст]: учеб. пособие / Т. П. Тихомирова, Е. И. 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Чучкалова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. – Екатеринбург: Изд-во ГОУ ВПО «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Рос.гос.проф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.-</a:t>
            </a:r>
            <a:r>
              <a:rPr lang="ru-RU" sz="2200" dirty="0" err="1">
                <a:solidFill>
                  <a:srgbClr val="002060"/>
                </a:solidFill>
                <a:latin typeface="+mn-lt"/>
              </a:rPr>
              <a:t>пед.ун</a:t>
            </a:r>
            <a:r>
              <a:rPr lang="ru-RU" sz="2200" dirty="0">
                <a:solidFill>
                  <a:srgbClr val="002060"/>
                </a:solidFill>
                <a:latin typeface="+mn-lt"/>
              </a:rPr>
              <a:t>-т», 2008. – 185 с. ISBN </a:t>
            </a:r>
            <a:r>
              <a:rPr lang="ru-RU" sz="2200" dirty="0" smtClean="0">
                <a:solidFill>
                  <a:srgbClr val="002060"/>
                </a:solidFill>
                <a:latin typeface="+mn-lt"/>
              </a:rPr>
              <a:t>978-5-8050-0339-5</a:t>
            </a:r>
            <a:endParaRPr lang="ru-RU" sz="28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39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>
                <a:solidFill>
                  <a:prstClr val="white">
                    <a:tint val="75000"/>
                  </a:prstClr>
                </a:solidFill>
              </a:rPr>
              <a:t>© Григорий Баев</a:t>
            </a:r>
            <a:endParaRPr lang="ru-RU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FCEC61-0D63-44DE-B457-78760F35DBE3}" type="slidenum">
              <a:rPr lang="ru-RU" smtClean="0">
                <a:solidFill>
                  <a:prstClr val="white">
                    <a:tint val="75000"/>
                  </a:prstClr>
                </a:solidFill>
              </a:rPr>
              <a:pPr>
                <a:defRPr/>
              </a:pPr>
              <a:t>47</a:t>
            </a:fld>
            <a:endParaRPr lang="ru-RU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1026" name="Picture 2" descr="http://www.chitai-gorod.ru/upload/iblock/ddb/ddb4c2e56e3a705fa6319f0a5336b7c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45278"/>
            <a:ext cx="3587796" cy="5400000"/>
          </a:xfrm>
          <a:prstGeom prst="rect">
            <a:avLst/>
          </a:prstGeom>
          <a:noFill/>
        </p:spPr>
      </p:pic>
      <p:pic>
        <p:nvPicPr>
          <p:cNvPr id="1028" name="Picture 4" descr="http://cv01.twirpx.net/0774/077430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672206"/>
            <a:ext cx="3847500" cy="54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629165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400" dirty="0" smtClean="0"/>
              <a:t>Организация и планирование машиностроительного производства. – Под. ред. Ю. Скворцова. – М.: </a:t>
            </a:r>
            <a:r>
              <a:rPr lang="ru-RU" sz="2400" dirty="0" err="1" smtClean="0"/>
              <a:t>В.шк</a:t>
            </a:r>
            <a:r>
              <a:rPr lang="ru-RU" sz="2400" dirty="0" smtClean="0"/>
              <a:t>, 2003</a:t>
            </a:r>
            <a:endParaRPr lang="ru-RU" sz="24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>
                <a:solidFill>
                  <a:prstClr val="white">
                    <a:tint val="75000"/>
                  </a:prstClr>
                </a:solidFill>
              </a:rPr>
              <a:t>© Григорий Баев</a:t>
            </a:r>
            <a:endParaRPr lang="ru-RU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A4F1D-522A-4082-9EB0-3F113EB0BB7E}" type="slidenum">
              <a:rPr lang="ru-RU" smtClean="0">
                <a:solidFill>
                  <a:prstClr val="white">
                    <a:tint val="75000"/>
                  </a:prstClr>
                </a:solidFill>
              </a:rPr>
              <a:pPr>
                <a:defRPr/>
              </a:pPr>
              <a:t>48</a:t>
            </a:fld>
            <a:endParaRPr lang="ru-RU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1026" name="Picture 2" descr="http://www.100book.ru/b11043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46" y="1357296"/>
            <a:ext cx="3477600" cy="5040000"/>
          </a:xfrm>
          <a:prstGeom prst="rect">
            <a:avLst/>
          </a:prstGeom>
          <a:noFill/>
        </p:spPr>
      </p:pic>
      <p:pic>
        <p:nvPicPr>
          <p:cNvPr id="1028" name="Picture 4" descr="http://www.char.ru/books/512835_Proizvodstvennyj_menedzhment_Grif_UMO_VUZov_Rossii_Praktikum_po_organizacii_i_planirovaniyu_mashinostroitelnogo_proizvodstv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1357298"/>
            <a:ext cx="3547001" cy="504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290258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F847E-8C0E-4157-8535-0DF9A51F701E}" type="slidenum">
              <a:rPr lang="ru-RU" sz="2000" smtClean="0"/>
              <a:pPr>
                <a:defRPr/>
              </a:pPr>
              <a:t>49</a:t>
            </a:fld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27850" y="1628800"/>
            <a:ext cx="84339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ru-RU" sz="2400" b="1" i="1" dirty="0" smtClean="0">
              <a:solidFill>
                <a:srgbClr val="C00000"/>
              </a:solidFill>
            </a:endParaRPr>
          </a:p>
          <a:p>
            <a:pPr algn="just"/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9552" y="1340768"/>
            <a:ext cx="72728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/>
            <a:r>
              <a:rPr lang="ru-RU" sz="4800" b="1" dirty="0" smtClean="0">
                <a:solidFill>
                  <a:srgbClr val="C00000"/>
                </a:solidFill>
                <a:effectLst/>
                <a:latin typeface="+mn-lt"/>
                <a:ea typeface="Times New Roman" panose="02020603050405020304" pitchFamily="18" charset="0"/>
              </a:rPr>
              <a:t>Вопр</a:t>
            </a:r>
            <a:r>
              <a:rPr lang="ru-RU" sz="4800" b="1" dirty="0">
                <a:solidFill>
                  <a:srgbClr val="C00000"/>
                </a:solidFill>
                <a:latin typeface="+mn-lt"/>
                <a:ea typeface="Times New Roman" panose="02020603050405020304" pitchFamily="18" charset="0"/>
              </a:rPr>
              <a:t>о</a:t>
            </a:r>
            <a:r>
              <a:rPr lang="ru-RU" sz="4800" b="1" dirty="0" smtClean="0">
                <a:solidFill>
                  <a:srgbClr val="C00000"/>
                </a:solidFill>
                <a:effectLst/>
                <a:latin typeface="+mn-lt"/>
                <a:ea typeface="Times New Roman" panose="02020603050405020304" pitchFamily="18" charset="0"/>
              </a:rPr>
              <a:t>сы</a:t>
            </a:r>
            <a:endParaRPr lang="ru-RU" sz="4800" b="1" dirty="0">
              <a:solidFill>
                <a:srgbClr val="C00000"/>
              </a:solidFill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5328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3033</TotalTime>
  <Words>2324</Words>
  <Application>Microsoft Office PowerPoint</Application>
  <PresentationFormat>Экран (4:3)</PresentationFormat>
  <Paragraphs>511</Paragraphs>
  <Slides>49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6" baseType="lpstr">
      <vt:lpstr>MS Mincho</vt:lpstr>
      <vt:lpstr>Arial</vt:lpstr>
      <vt:lpstr>Calibri</vt:lpstr>
      <vt:lpstr>Symbol</vt:lpstr>
      <vt:lpstr>Tahoma</vt:lpstr>
      <vt:lpstr>Times New Roman</vt:lpstr>
      <vt:lpstr>Тема Office</vt:lpstr>
      <vt:lpstr> Организация и планирование производства  </vt:lpstr>
      <vt:lpstr>Рабочая программа для ф-та РЛ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Лекции – 17 часов </vt:lpstr>
      <vt:lpstr>Семинары – 34 часа </vt:lpstr>
      <vt:lpstr>    </vt:lpstr>
      <vt:lpstr>    </vt:lpstr>
      <vt:lpstr>    </vt:lpstr>
      <vt:lpstr>    </vt:lpstr>
      <vt:lpstr>    </vt:lpstr>
      <vt:lpstr>    </vt:lpstr>
      <vt:lpstr>    </vt:lpstr>
      <vt:lpstr>Презентация PowerPoint</vt:lpstr>
      <vt:lpstr>Темы ОЭЧ</vt:lpstr>
      <vt:lpstr>Темы ОЭЧ</vt:lpstr>
      <vt:lpstr>Темы ОЭЧ</vt:lpstr>
      <vt:lpstr>Презентация PowerPoint</vt:lpstr>
      <vt:lpstr>Презентация PowerPoint</vt:lpstr>
      <vt:lpstr>Презентация PowerPoint</vt:lpstr>
      <vt:lpstr>Презентация PowerPoint</vt:lpstr>
      <vt:lpstr>Литература</vt:lpstr>
      <vt:lpstr>Итог:</vt:lpstr>
      <vt:lpstr>  Положение о порядке проведения государственной итоговой аттестации по образовательным программам высшего образования – программам бакалавриата, программам специалитета и программам магистратуры МГТУ им. Н. Э. Баумана от 15 апреля 2019 г. </vt:lpstr>
      <vt:lpstr>Консультации</vt:lpstr>
      <vt:lpstr>Консультации</vt:lpstr>
      <vt:lpstr>Смета затрат на выполнение НИР</vt:lpstr>
      <vt:lpstr>Заработная плата</vt:lpstr>
      <vt:lpstr>Страховые взносы</vt:lpstr>
      <vt:lpstr> Материалы, покупные изделия и полуфабрикаты   </vt:lpstr>
      <vt:lpstr> Материалы, покупные изделия и полуфабрикаты   </vt:lpstr>
      <vt:lpstr> Контрагентные работы   </vt:lpstr>
      <vt:lpstr> Прочие основные затраты: </vt:lpstr>
      <vt:lpstr> Накладные расходы  </vt:lpstr>
      <vt:lpstr>Эффективность НИР</vt:lpstr>
      <vt:lpstr>Эффект НИР</vt:lpstr>
      <vt:lpstr>Эффективность НИР</vt:lpstr>
      <vt:lpstr>Литература</vt:lpstr>
      <vt:lpstr>Презентация PowerPoint</vt:lpstr>
      <vt:lpstr>Организация и планирование машиностроительного производства. – Под. ред. Ю. Скворцова. – М.: В.шк, 2003</vt:lpstr>
      <vt:lpstr>Презентация PowerPoint</vt:lpstr>
    </vt:vector>
  </TitlesOfParts>
  <Company>1C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Власова Людмила</dc:creator>
  <cp:lastModifiedBy>Lenovo</cp:lastModifiedBy>
  <cp:revision>310</cp:revision>
  <dcterms:created xsi:type="dcterms:W3CDTF">2019-02-01T10:50:44Z</dcterms:created>
  <dcterms:modified xsi:type="dcterms:W3CDTF">2024-12-15T17:10:06Z</dcterms:modified>
</cp:coreProperties>
</file>