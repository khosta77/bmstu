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  <p:sldMasterId id="2147483685" r:id="rId2"/>
    <p:sldMasterId id="2147483719" r:id="rId3"/>
  </p:sldMasterIdLst>
  <p:notesMasterIdLst>
    <p:notesMasterId r:id="rId34"/>
  </p:notesMasterIdLst>
  <p:sldIdLst>
    <p:sldId id="259" r:id="rId4"/>
    <p:sldId id="423" r:id="rId5"/>
    <p:sldId id="424" r:id="rId6"/>
    <p:sldId id="264" r:id="rId7"/>
    <p:sldId id="331" r:id="rId8"/>
    <p:sldId id="334" r:id="rId9"/>
    <p:sldId id="335" r:id="rId10"/>
    <p:sldId id="336" r:id="rId11"/>
    <p:sldId id="337" r:id="rId12"/>
    <p:sldId id="338" r:id="rId13"/>
    <p:sldId id="339" r:id="rId14"/>
    <p:sldId id="341" r:id="rId15"/>
    <p:sldId id="342" r:id="rId16"/>
    <p:sldId id="333" r:id="rId17"/>
    <p:sldId id="343" r:id="rId18"/>
    <p:sldId id="344" r:id="rId19"/>
    <p:sldId id="345" r:id="rId20"/>
    <p:sldId id="346" r:id="rId21"/>
    <p:sldId id="352" r:id="rId22"/>
    <p:sldId id="353" r:id="rId23"/>
    <p:sldId id="354" r:id="rId24"/>
    <p:sldId id="355" r:id="rId25"/>
    <p:sldId id="356" r:id="rId26"/>
    <p:sldId id="410" r:id="rId27"/>
    <p:sldId id="411" r:id="rId28"/>
    <p:sldId id="413" r:id="rId29"/>
    <p:sldId id="357" r:id="rId30"/>
    <p:sldId id="416" r:id="rId31"/>
    <p:sldId id="414" r:id="rId32"/>
    <p:sldId id="415" r:id="rId3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076"/>
    <a:srgbClr val="FE8716"/>
    <a:srgbClr val="D6950F"/>
    <a:srgbClr val="C29A34"/>
    <a:srgbClr val="E3D32B"/>
    <a:srgbClr val="E3BA75"/>
    <a:srgbClr val="D2120E"/>
    <a:srgbClr val="E4432D"/>
    <a:srgbClr val="D2310D"/>
    <a:srgbClr val="E45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1" autoAdjust="0"/>
    <p:restoredTop sz="95441" autoAdjust="0"/>
  </p:normalViewPr>
  <p:slideViewPr>
    <p:cSldViewPr>
      <p:cViewPr varScale="1">
        <p:scale>
          <a:sx n="115" d="100"/>
          <a:sy n="115" d="100"/>
        </p:scale>
        <p:origin x="168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28CC68-1167-094E-BA0E-263E0288D3E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828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Сходство стандартов позволяет использовать схожий инструментарий и функционал для внедрения, управления, пересмотра, проверки и сертификации. Подразумевается, что если компания внедрила другие стандарты менеджмента, она может использовать единую систему аудита и управления, которая применима к менеджменту качества, экологическому менеджменту, менеджменту безопасности и т.д.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8CC68-1167-094E-BA0E-263E0288D3E0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210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smtClean="0"/>
          </a:p>
        </p:txBody>
      </p:sp>
      <p:sp>
        <p:nvSpPr>
          <p:cNvPr id="10445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4569E0E5-080B-4A49-A603-31E6FB427201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411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rgbClr val="FF5050"/>
                </a:solidFill>
                <a:latin typeface="Arial-BoldMT" charset="-52"/>
              </a:rPr>
              <a:t>Планирование (создайте СМЗИ)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chemeClr val="bg1"/>
                </a:solidFill>
                <a:latin typeface="ArialMT" charset="-52"/>
              </a:rPr>
              <a:t>Установите политику, цели, процессы и процедуры, относящиеся к менеджменту рисков и улучшению ЗИ для выдачи результатов в соответствии с общей политикой и целями организации.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rgbClr val="FF5050"/>
                </a:solidFill>
                <a:latin typeface="Arial-BoldMT" charset="-52"/>
              </a:rPr>
              <a:t>Осуществление (внедрите и эксплуатируйте СМЗИ)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chemeClr val="bg1"/>
                </a:solidFill>
                <a:latin typeface="ArialMT" charset="-52"/>
              </a:rPr>
              <a:t>Реализуйте и эксплуатируйте политику, средства управления, процессы и процедуры в области СМЗИ;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rgbClr val="FF5050"/>
                </a:solidFill>
                <a:latin typeface="Arial-BoldMT" charset="-52"/>
              </a:rPr>
              <a:t>Действие (постоянно контролируйте и анализируйте СМЗИ)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chemeClr val="bg1"/>
                </a:solidFill>
                <a:latin typeface="ArialMT" charset="-52"/>
              </a:rPr>
              <a:t>Оценивайте и, где применимо, измеряйте показатели процессов по отношению к политике, целям и практическому опыту в области СМЗИ, доложите результаты руководству для анализа.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rgbClr val="FF5050"/>
                </a:solidFill>
                <a:latin typeface="Arial-BoldMT" charset="-52"/>
              </a:rPr>
              <a:t>Проверка (поддерживайте в рабочем состоянии и улучшайте СМЗИ)</a:t>
            </a: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chemeClr val="bg1"/>
                </a:solidFill>
                <a:latin typeface="ArialMT" charset="-52"/>
              </a:rPr>
              <a:t>Осуществляйте корректирующие и предупреждающие действия, основанные на результатах внутреннего аудита СМЗИ и анализа со стороны руководства, или на другой значимой информации для того, чтобы достичь постоянного улучшения СМЗИ.</a:t>
            </a:r>
          </a:p>
          <a:p>
            <a:pPr>
              <a:lnSpc>
                <a:spcPct val="90000"/>
              </a:lnSpc>
            </a:pPr>
            <a:endParaRPr lang="ru-RU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74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1619672" y="260648"/>
            <a:ext cx="7268344" cy="1470025"/>
          </a:xfrm>
        </p:spPr>
        <p:txBody>
          <a:bodyPr/>
          <a:lstStyle>
            <a:lvl1pPr>
              <a:defRPr>
                <a:solidFill>
                  <a:srgbClr val="66006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9672" y="5373216"/>
            <a:ext cx="5576664" cy="112968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79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269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4816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85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65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66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1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380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611560" y="1628800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pic>
        <p:nvPicPr>
          <p:cNvPr id="3" name="Изображение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99792" y="3988399"/>
            <a:ext cx="3816424" cy="28696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972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319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968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712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56207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908720"/>
            <a:ext cx="8208912" cy="50405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lang="ru-RU"/>
          </a:p>
        </p:txBody>
      </p:sp>
      <p:sp>
        <p:nvSpPr>
          <p:cNvPr id="4" name="Содержимое 2"/>
          <p:cNvSpPr>
            <a:spLocks noGrp="1"/>
          </p:cNvSpPr>
          <p:nvPr>
            <p:ph idx="10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574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defRPr>
            </a:lvl1pPr>
          </a:lstStyle>
          <a:p>
            <a:r>
              <a:rPr lang="en-US" smtClean="0"/>
              <a:t>Образец заголовка</a:t>
            </a:r>
            <a:endParaRPr lang="ru-RU" dirty="0"/>
          </a:p>
        </p:txBody>
      </p:sp>
      <p:sp>
        <p:nvSpPr>
          <p:cNvPr id="4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8508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124744"/>
            <a:ext cx="8496944" cy="4968552"/>
          </a:xfrm>
          <a:gradFill flip="none" rotWithShape="1">
            <a:gsLst>
              <a:gs pos="74000">
                <a:srgbClr val="4F0051"/>
              </a:gs>
              <a:gs pos="100000">
                <a:srgbClr val="833886"/>
              </a:gs>
              <a:gs pos="75000">
                <a:srgbClr val="660066"/>
              </a:gs>
            </a:gsLst>
            <a:lin ang="21000000" scaled="0"/>
            <a:tileRect/>
          </a:gradFill>
          <a:ln>
            <a:solidFill>
              <a:schemeClr val="bg1"/>
            </a:solidFill>
          </a:ln>
          <a:effectLst>
            <a:outerShdw blurRad="276225" dist="22987" dir="3360000" sx="101000" sy="101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algn="l">
              <a:defRPr lang="en-US" baseline="0" smtClean="0">
                <a:solidFill>
                  <a:schemeClr val="lt1"/>
                </a:solidFill>
                <a:latin typeface="Arial Unicode MS"/>
              </a:defRPr>
            </a:lvl1pPr>
            <a:lvl2pPr algn="l">
              <a:defRPr lang="en-US" baseline="0" smtClean="0">
                <a:solidFill>
                  <a:schemeClr val="lt1"/>
                </a:solidFill>
                <a:latin typeface="Arial Unicode MS"/>
              </a:defRPr>
            </a:lvl2pPr>
            <a:lvl3pPr algn="l">
              <a:defRPr lang="en-US" baseline="0" smtClean="0">
                <a:solidFill>
                  <a:schemeClr val="lt1"/>
                </a:solidFill>
                <a:latin typeface="Arial Unicode MS"/>
              </a:defRPr>
            </a:lvl3pPr>
            <a:lvl4pPr algn="l">
              <a:defRPr lang="en-US" baseline="0" smtClean="0">
                <a:solidFill>
                  <a:schemeClr val="lt1"/>
                </a:solidFill>
                <a:latin typeface="Arial Unicode MS"/>
              </a:defRPr>
            </a:lvl4pPr>
            <a:lvl5pPr algn="l">
              <a:defRPr lang="ru-RU" baseline="0">
                <a:solidFill>
                  <a:schemeClr val="lt1"/>
                </a:solidFill>
                <a:latin typeface="Arial Unicode MS"/>
              </a:defRPr>
            </a:lvl5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marL="457200"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914400" lvl="2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62074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225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gradFill flip="none" rotWithShape="1">
            <a:gsLst>
              <a:gs pos="27000">
                <a:srgbClr val="C7060D"/>
              </a:gs>
              <a:gs pos="0">
                <a:srgbClr val="D2120E"/>
              </a:gs>
              <a:gs pos="26000">
                <a:srgbClr val="E4432D"/>
              </a:gs>
            </a:gsLst>
            <a:lin ang="10440000" scaled="0"/>
            <a:tileRect/>
          </a:gradFill>
          <a:ln>
            <a:solidFill>
              <a:srgbClr val="FF0000"/>
            </a:solidFill>
          </a:ln>
          <a:effectLst>
            <a:outerShdw blurRad="40000" dist="23000" dir="5400000" sx="101000" sy="10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algn="l">
              <a:defRPr lang="en-US" baseline="0" dirty="0" smtClean="0">
                <a:latin typeface="Arial Unicode MS"/>
              </a:defRPr>
            </a:lvl1pPr>
            <a:lvl2pPr algn="l">
              <a:defRPr lang="en-US" baseline="0" dirty="0" smtClean="0">
                <a:latin typeface="Arial Unicode MS"/>
              </a:defRPr>
            </a:lvl2pPr>
            <a:lvl3pPr algn="l">
              <a:defRPr lang="en-US" baseline="0" dirty="0" smtClean="0">
                <a:latin typeface="Arial Unicode MS"/>
              </a:defRPr>
            </a:lvl3pPr>
            <a:lvl4pPr algn="l">
              <a:defRPr lang="en-US" baseline="0" dirty="0" smtClean="0">
                <a:latin typeface="Arial Unicode MS"/>
              </a:defRPr>
            </a:lvl4pPr>
            <a:lvl5pPr algn="l">
              <a:defRPr lang="ru-RU" baseline="0" dirty="0">
                <a:latin typeface="Arial Unicode MS"/>
              </a:defRPr>
            </a:lvl5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marL="457200"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914400" lvl="2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/>
          <a:lstStyle/>
          <a:p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9674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gradFill flip="none" rotWithShape="1">
            <a:gsLst>
              <a:gs pos="0">
                <a:srgbClr val="E3980A"/>
              </a:gs>
              <a:gs pos="9000">
                <a:srgbClr val="F7EE59">
                  <a:alpha val="83000"/>
                </a:srgbClr>
              </a:gs>
              <a:gs pos="21000">
                <a:srgbClr val="D6950F"/>
              </a:gs>
              <a:gs pos="100000">
                <a:srgbClr val="FE8716"/>
              </a:gs>
            </a:gsLst>
            <a:lin ang="21360000" scaled="0"/>
            <a:tileRect/>
          </a:gradFill>
          <a:ln>
            <a:solidFill>
              <a:srgbClr val="E3980A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algn="l">
              <a:defRPr lang="en-US" baseline="0" dirty="0" smtClean="0">
                <a:solidFill>
                  <a:schemeClr val="tx1"/>
                </a:solidFill>
                <a:latin typeface="Arial Unicode MS"/>
              </a:defRPr>
            </a:lvl1pPr>
            <a:lvl2pPr algn="l">
              <a:defRPr lang="en-US" baseline="0" dirty="0" smtClean="0">
                <a:solidFill>
                  <a:schemeClr val="tx1"/>
                </a:solidFill>
                <a:latin typeface="Arial Unicode MS"/>
              </a:defRPr>
            </a:lvl2pPr>
            <a:lvl3pPr algn="l">
              <a:defRPr lang="en-US" baseline="0" dirty="0" smtClean="0">
                <a:solidFill>
                  <a:schemeClr val="tx1"/>
                </a:solidFill>
                <a:latin typeface="Arial Unicode MS"/>
              </a:defRPr>
            </a:lvl3pPr>
            <a:lvl4pPr algn="l">
              <a:defRPr lang="en-US" baseline="0" dirty="0" smtClean="0">
                <a:solidFill>
                  <a:schemeClr val="tx1"/>
                </a:solidFill>
                <a:latin typeface="Arial Unicode MS"/>
              </a:defRPr>
            </a:lvl4pPr>
            <a:lvl5pPr algn="l">
              <a:defRPr lang="ru-RU" baseline="0" dirty="0">
                <a:solidFill>
                  <a:schemeClr val="tx1"/>
                </a:solidFill>
                <a:latin typeface="Arial Unicode MS"/>
              </a:defRPr>
            </a:lvl5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marL="457200"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914400" lvl="2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/>
          <a:lstStyle/>
          <a:p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2828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gradFill flip="none" rotWithShape="1">
            <a:gsLst>
              <a:gs pos="0">
                <a:srgbClr val="DA3900">
                  <a:alpha val="80000"/>
                </a:srgbClr>
              </a:gs>
              <a:gs pos="73000">
                <a:schemeClr val="accent6">
                  <a:alpha val="80000"/>
                </a:schemeClr>
              </a:gs>
              <a:gs pos="74000">
                <a:schemeClr val="accent6">
                  <a:lumMod val="60000"/>
                  <a:lumOff val="40000"/>
                  <a:alpha val="80000"/>
                </a:schemeClr>
              </a:gs>
              <a:gs pos="100000">
                <a:schemeClr val="accent6">
                  <a:lumMod val="75000"/>
                  <a:alpha val="59000"/>
                </a:schemeClr>
              </a:gs>
            </a:gsLst>
            <a:lin ang="21300000" scaled="0"/>
            <a:tileRect/>
          </a:gradFill>
          <a:ln>
            <a:solidFill>
              <a:srgbClr val="FF6600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algn="l">
              <a:defRPr lang="en-US" baseline="0" dirty="0" smtClean="0">
                <a:solidFill>
                  <a:srgbClr val="660066"/>
                </a:solidFill>
                <a:latin typeface="Arial Unicode MS"/>
              </a:defRPr>
            </a:lvl1pPr>
            <a:lvl2pPr algn="l">
              <a:defRPr lang="en-US" baseline="0" dirty="0" smtClean="0">
                <a:solidFill>
                  <a:srgbClr val="660066"/>
                </a:solidFill>
                <a:latin typeface="Arial Unicode MS"/>
              </a:defRPr>
            </a:lvl2pPr>
            <a:lvl3pPr algn="l">
              <a:defRPr lang="en-US" baseline="0" dirty="0" smtClean="0">
                <a:solidFill>
                  <a:srgbClr val="660066"/>
                </a:solidFill>
                <a:latin typeface="Arial Unicode MS"/>
              </a:defRPr>
            </a:lvl3pPr>
            <a:lvl4pPr algn="l">
              <a:defRPr lang="en-US" baseline="0" dirty="0" smtClean="0">
                <a:solidFill>
                  <a:srgbClr val="660066"/>
                </a:solidFill>
                <a:latin typeface="Arial Unicode MS"/>
              </a:defRPr>
            </a:lvl4pPr>
            <a:lvl5pPr algn="l">
              <a:defRPr lang="ru-RU" baseline="0" dirty="0">
                <a:solidFill>
                  <a:srgbClr val="660066"/>
                </a:solidFill>
                <a:latin typeface="Arial Unicode MS"/>
              </a:defRPr>
            </a:lvl5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marL="457200"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914400" lvl="2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/>
          <a:lstStyle/>
          <a:p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601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94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09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912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69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87943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41348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024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05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27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288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2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74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08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90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12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09768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005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0364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6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4327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8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7" descr="pages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0" t="9891" b="-121"/>
          <a:stretch>
            <a:fillRect/>
          </a:stretch>
        </p:blipFill>
        <p:spPr bwMode="auto">
          <a:xfrm>
            <a:off x="0" y="20638"/>
            <a:ext cx="5364163" cy="61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8" descr="color_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0" y="5421313"/>
            <a:ext cx="1503363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lvl="1"/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2"/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3"/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4"/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9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18" r:id="rId9"/>
    <p:sldLayoutId id="2147483706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rgbClr val="660066"/>
          </a:solidFill>
          <a:latin typeface="Arial Unicode M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Arial Unicode M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 Unicode M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 Unicode M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 Unicode M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Arial Unicode M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"/>
          <p:cNvSpPr/>
          <p:nvPr/>
        </p:nvSpPr>
        <p:spPr>
          <a:xfrm>
            <a:off x="6012160" y="6167516"/>
            <a:ext cx="3131840" cy="717868"/>
          </a:xfrm>
          <a:custGeom>
            <a:avLst/>
            <a:gdLst/>
            <a:ahLst/>
            <a:cxnLst/>
            <a:rect l="l" t="t" r="r" b="b"/>
            <a:pathLst>
              <a:path w="3131840" h="717868">
                <a:moveTo>
                  <a:pt x="3131840" y="0"/>
                </a:moveTo>
                <a:lnTo>
                  <a:pt x="3131840" y="717868"/>
                </a:lnTo>
                <a:lnTo>
                  <a:pt x="0" y="717868"/>
                </a:lnTo>
                <a:lnTo>
                  <a:pt x="176917" y="705585"/>
                </a:lnTo>
                <a:cubicBezTo>
                  <a:pt x="1271949" y="614163"/>
                  <a:pt x="2274222" y="368715"/>
                  <a:pt x="3107353" y="10974"/>
                </a:cubicBezTo>
                <a:close/>
              </a:path>
            </a:pathLst>
          </a:custGeom>
          <a:gradFill flip="none" rotWithShape="1">
            <a:gsLst>
              <a:gs pos="68000">
                <a:srgbClr val="C7060D"/>
              </a:gs>
              <a:gs pos="0">
                <a:srgbClr val="E47F0A"/>
              </a:gs>
            </a:gsLst>
            <a:lin ang="1824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11"/>
          <p:cNvSpPr/>
          <p:nvPr/>
        </p:nvSpPr>
        <p:spPr>
          <a:xfrm>
            <a:off x="0" y="-17739"/>
            <a:ext cx="1835696" cy="782443"/>
          </a:xfrm>
          <a:custGeom>
            <a:avLst/>
            <a:gdLst/>
            <a:ahLst/>
            <a:cxnLst/>
            <a:rect l="l" t="t" r="r" b="b"/>
            <a:pathLst>
              <a:path w="2279387" h="1070475">
                <a:moveTo>
                  <a:pt x="0" y="0"/>
                </a:moveTo>
                <a:lnTo>
                  <a:pt x="2279387" y="0"/>
                </a:lnTo>
                <a:lnTo>
                  <a:pt x="2111509" y="20266"/>
                </a:lnTo>
                <a:cubicBezTo>
                  <a:pt x="952860" y="174545"/>
                  <a:pt x="156394" y="529664"/>
                  <a:pt x="8280" y="1031897"/>
                </a:cubicBezTo>
                <a:lnTo>
                  <a:pt x="0" y="1070475"/>
                </a:lnTo>
                <a:close/>
              </a:path>
            </a:pathLst>
          </a:custGeom>
          <a:gradFill flip="none" rotWithShape="1">
            <a:gsLst>
              <a:gs pos="17000">
                <a:srgbClr val="E3980A"/>
              </a:gs>
              <a:gs pos="100000">
                <a:srgbClr val="F7EE59">
                  <a:alpha val="83000"/>
                </a:srgbClr>
              </a:gs>
              <a:gs pos="99000">
                <a:srgbClr val="FFCF6B"/>
              </a:gs>
            </a:gsLst>
            <a:lin ang="213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/>
          <p:cNvSpPr/>
          <p:nvPr/>
        </p:nvSpPr>
        <p:spPr>
          <a:xfrm>
            <a:off x="4742550" y="5733256"/>
            <a:ext cx="4077922" cy="1146320"/>
          </a:xfrm>
          <a:custGeom>
            <a:avLst/>
            <a:gdLst/>
            <a:ahLst/>
            <a:cxnLst/>
            <a:rect l="l" t="t" r="r" b="b"/>
            <a:pathLst>
              <a:path w="4077922" h="1224562">
                <a:moveTo>
                  <a:pt x="4077922" y="0"/>
                </a:moveTo>
                <a:lnTo>
                  <a:pt x="4077922" y="1224562"/>
                </a:lnTo>
                <a:lnTo>
                  <a:pt x="0" y="1224562"/>
                </a:lnTo>
                <a:lnTo>
                  <a:pt x="176917" y="1212279"/>
                </a:lnTo>
                <a:cubicBezTo>
                  <a:pt x="1636960" y="1090383"/>
                  <a:pt x="2932097" y="694662"/>
                  <a:pt x="3881275" y="124043"/>
                </a:cubicBezTo>
                <a:close/>
              </a:path>
            </a:pathLst>
          </a:custGeom>
          <a:gradFill flip="none" rotWithShape="1">
            <a:gsLst>
              <a:gs pos="80000">
                <a:srgbClr val="430044">
                  <a:alpha val="91000"/>
                </a:srgbClr>
              </a:gs>
              <a:gs pos="52000">
                <a:srgbClr val="320035">
                  <a:alpha val="39000"/>
                </a:srgbClr>
              </a:gs>
            </a:gsLst>
            <a:lin ang="18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6376" y="6114997"/>
            <a:ext cx="864096" cy="69837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 smtClean="0"/>
              <a:t>Образец</a:t>
            </a:r>
            <a:r>
              <a:rPr lang="en-US" dirty="0" smtClean="0"/>
              <a:t> </a:t>
            </a:r>
            <a:r>
              <a:rPr lang="en-US" dirty="0" err="1" smtClean="0"/>
              <a:t>текста</a:t>
            </a:r>
            <a:endParaRPr lang="en-US" dirty="0" smtClean="0"/>
          </a:p>
          <a:p>
            <a:pPr lvl="1"/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2"/>
            <a:r>
              <a:rPr lang="en-US" dirty="0" err="1" smtClean="0"/>
              <a:t>Третий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3"/>
            <a:r>
              <a:rPr lang="en-US" dirty="0" err="1" smtClean="0"/>
              <a:t>Четвертый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en-US" dirty="0" smtClean="0"/>
          </a:p>
          <a:p>
            <a:pPr lvl="4"/>
            <a:r>
              <a:rPr lang="en-US" dirty="0" err="1" smtClean="0"/>
              <a:t>Пятый</a:t>
            </a:r>
            <a:r>
              <a:rPr lang="en-US" dirty="0" smtClean="0"/>
              <a:t> </a:t>
            </a:r>
            <a:r>
              <a:rPr lang="en-US" dirty="0" err="1" smtClean="0"/>
              <a:t>уровень</a:t>
            </a:r>
            <a:endParaRPr lang="ru-RU" dirty="0"/>
          </a:p>
        </p:txBody>
      </p:sp>
      <p:sp>
        <p:nvSpPr>
          <p:cNvPr id="10" name="Прямоугольник 11"/>
          <p:cNvSpPr/>
          <p:nvPr/>
        </p:nvSpPr>
        <p:spPr>
          <a:xfrm>
            <a:off x="323529" y="0"/>
            <a:ext cx="2232248" cy="1070475"/>
          </a:xfrm>
          <a:custGeom>
            <a:avLst/>
            <a:gdLst/>
            <a:ahLst/>
            <a:cxnLst/>
            <a:rect l="l" t="t" r="r" b="b"/>
            <a:pathLst>
              <a:path w="2279387" h="1070475">
                <a:moveTo>
                  <a:pt x="0" y="0"/>
                </a:moveTo>
                <a:lnTo>
                  <a:pt x="2279387" y="0"/>
                </a:lnTo>
                <a:lnTo>
                  <a:pt x="2111509" y="20266"/>
                </a:lnTo>
                <a:cubicBezTo>
                  <a:pt x="952860" y="174545"/>
                  <a:pt x="156394" y="529664"/>
                  <a:pt x="8280" y="1031897"/>
                </a:cubicBezTo>
                <a:lnTo>
                  <a:pt x="0" y="1070475"/>
                </a:lnTo>
                <a:close/>
              </a:path>
            </a:pathLst>
          </a:custGeom>
          <a:gradFill flip="none" rotWithShape="1">
            <a:gsLst>
              <a:gs pos="0">
                <a:srgbClr val="DA3900">
                  <a:alpha val="80000"/>
                </a:srgbClr>
              </a:gs>
              <a:gs pos="62000">
                <a:srgbClr val="FFDD4C">
                  <a:alpha val="80000"/>
                </a:srgbClr>
              </a:gs>
            </a:gsLst>
            <a:lin ang="2088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25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16" r:id="rId3"/>
    <p:sldLayoutId id="2147483717" r:id="rId4"/>
    <p:sldLayoutId id="2147483712" r:id="rId5"/>
    <p:sldLayoutId id="2147483713" r:id="rId6"/>
    <p:sldLayoutId id="2147483714" r:id="rId7"/>
    <p:sldLayoutId id="2147483715" r:id="rId8"/>
    <p:sldLayoutId id="2147483689" r:id="rId9"/>
    <p:sldLayoutId id="2147483690" r:id="rId10"/>
    <p:sldLayoutId id="2147483707" r:id="rId11"/>
    <p:sldLayoutId id="2147483692" r:id="rId12"/>
    <p:sldLayoutId id="2147483693" r:id="rId13"/>
    <p:sldLayoutId id="2147483694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rgbClr val="660066"/>
          </a:solidFill>
          <a:latin typeface="Arial Unicode M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Arial Unicode M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 Unicode M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 Unicode M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 Unicode M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Arial Unicode M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1547664" y="0"/>
            <a:ext cx="7268344" cy="3046988"/>
          </a:xfrm>
        </p:spPr>
        <p:txBody>
          <a:bodyPr>
            <a:spAutoFit/>
          </a:bodyPr>
          <a:lstStyle/>
          <a:p>
            <a:r>
              <a:rPr lang="ru-RU" dirty="0" smtClean="0"/>
              <a:t>ISO/IEC 27001:2021 Информационные технологии. </a:t>
            </a:r>
            <a:br>
              <a:rPr lang="ru-RU" dirty="0" smtClean="0"/>
            </a:br>
            <a:r>
              <a:rPr lang="ru-RU" dirty="0" smtClean="0"/>
              <a:t>Методы обеспечения безопасности.</a:t>
            </a:r>
            <a:br>
              <a:rPr lang="ru-RU" dirty="0" smtClean="0"/>
            </a:br>
            <a:r>
              <a:rPr lang="ru-RU" dirty="0" smtClean="0"/>
              <a:t>Системы управления информационной безопасностью. </a:t>
            </a:r>
            <a:br>
              <a:rPr lang="ru-RU" dirty="0" smtClean="0"/>
            </a:br>
            <a:r>
              <a:rPr lang="ru-RU" dirty="0" smtClean="0"/>
              <a:t>Требования (BS 7799-2:2005).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 smtClean="0"/>
              <a:t>Раздел 2</a:t>
            </a:r>
            <a:endParaRPr lang="ru-RU" dirty="0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4208" y="3573016"/>
            <a:ext cx="1366639" cy="1185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95936" y="3933056"/>
            <a:ext cx="1806575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8854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0" y="33580"/>
            <a:ext cx="4572000" cy="6824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3" name="Picture 5" descr="ГОСТ Р ИСО/МЭК 27002-2021 Информационные технологии (ИТ). Методы и средства обеспечения безопасности. Свод норм и правил применения мер обеспечения информационной безопасности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58187" y="1"/>
            <a:ext cx="4270147" cy="68579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36486"/>
            <a:ext cx="4873445" cy="689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1254" name="Picture 6" descr="D:\Users\Valery\Downloads\gost_r_iso!mek_27006-202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0"/>
            <a:ext cx="449999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81075"/>
          </a:xfrm>
        </p:spPr>
        <p:txBody>
          <a:bodyPr>
            <a:noAutofit/>
          </a:bodyPr>
          <a:lstStyle/>
          <a:p>
            <a:r>
              <a:rPr lang="ru-RU" altLang="zh-CN" b="0" dirty="0" smtClean="0"/>
              <a:t>ISO/IEC IS 27001:2021</a:t>
            </a:r>
            <a:endParaRPr lang="ru-RU" b="0" dirty="0" smtClean="0"/>
          </a:p>
        </p:txBody>
      </p:sp>
      <p:sp>
        <p:nvSpPr>
          <p:cNvPr id="621571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125538"/>
            <a:ext cx="8785225" cy="500062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Clr>
                <a:schemeClr val="accent6"/>
              </a:buClr>
              <a:buNone/>
            </a:pPr>
            <a:r>
              <a:rPr lang="ru-RU" altLang="zh-CN" sz="2600" dirty="0" smtClean="0"/>
              <a:t>Сертификация СМИБ производится на соответствие стандарту ISO/IEC 27001: 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v"/>
            </a:pPr>
            <a:r>
              <a:rPr lang="ru-RU" altLang="zh-CN" sz="2600" dirty="0" smtClean="0"/>
              <a:t>определяет </a:t>
            </a:r>
            <a:r>
              <a:rPr lang="ru-RU" altLang="zh-CN" sz="2600" i="1" dirty="0" smtClean="0"/>
              <a:t>комплекс требований</a:t>
            </a:r>
            <a:r>
              <a:rPr lang="ru-RU" altLang="zh-CN" sz="2600" dirty="0" smtClean="0"/>
              <a:t> к СМИБ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v"/>
            </a:pPr>
            <a:r>
              <a:rPr lang="ru-RU" altLang="zh-CN" sz="2600" dirty="0" smtClean="0"/>
              <a:t>формирует спецификации для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создания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внедрения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/>
              <a:t>э</a:t>
            </a:r>
            <a:r>
              <a:rPr lang="ru-RU" altLang="zh-CN" sz="2600" dirty="0" smtClean="0"/>
              <a:t>ксплуатации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мониторинга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пересмотра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сопровождения и 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ru-RU" altLang="zh-CN" sz="2600" dirty="0" smtClean="0"/>
              <a:t>совершенствования СМИБ. </a:t>
            </a:r>
            <a:endParaRPr lang="ru-RU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ISO/IEC IS </a:t>
            </a:r>
            <a:r>
              <a:rPr lang="en-US" dirty="0" smtClean="0"/>
              <a:t>27001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052736"/>
            <a:ext cx="8363272" cy="5073427"/>
          </a:xfrm>
        </p:spPr>
        <p:txBody>
          <a:bodyPr>
            <a:normAutofit/>
          </a:bodyPr>
          <a:lstStyle/>
          <a:p>
            <a:pPr>
              <a:buClr>
                <a:srgbClr val="7030A0"/>
              </a:buClr>
              <a:buFont typeface="Wingdings" pitchFamily="2" charset="2"/>
              <a:buChar char="v"/>
            </a:pPr>
            <a:r>
              <a:rPr lang="ru-RU" dirty="0" smtClean="0"/>
              <a:t>описывает </a:t>
            </a:r>
            <a:r>
              <a:rPr lang="ru-RU" dirty="0"/>
              <a:t>общую модель внедрения и функционирования СМИБ, а также действий по мониторингу и улучшению </a:t>
            </a:r>
            <a:r>
              <a:rPr lang="ru-RU" dirty="0" smtClean="0"/>
              <a:t>СМИБ;</a:t>
            </a:r>
          </a:p>
          <a:p>
            <a:pPr>
              <a:buClr>
                <a:srgbClr val="7030A0"/>
              </a:buClr>
              <a:buFont typeface="Wingdings" pitchFamily="2" charset="2"/>
              <a:buChar char="v"/>
            </a:pPr>
            <a:r>
              <a:rPr lang="ru-RU" dirty="0" smtClean="0"/>
              <a:t>намеревается </a:t>
            </a:r>
            <a:r>
              <a:rPr lang="ru-RU" dirty="0"/>
              <a:t>гармонизировать различные стандарты по системам </a:t>
            </a:r>
            <a:r>
              <a:rPr lang="ru-RU" dirty="0" smtClean="0"/>
              <a:t>менеджмента (ISO/IEC 9001 - менеджмент </a:t>
            </a:r>
            <a:r>
              <a:rPr lang="ru-RU" dirty="0"/>
              <a:t>качества, и ISO/IEC </a:t>
            </a:r>
            <a:r>
              <a:rPr lang="ru-RU" dirty="0" smtClean="0"/>
              <a:t>14001 - для </a:t>
            </a:r>
            <a:r>
              <a:rPr lang="ru-RU" dirty="0"/>
              <a:t>систем экологического </a:t>
            </a:r>
            <a:r>
              <a:rPr lang="ru-RU" dirty="0" smtClean="0"/>
              <a:t>менеджмента);</a:t>
            </a:r>
          </a:p>
          <a:p>
            <a:pPr>
              <a:buClr>
                <a:srgbClr val="7030A0"/>
              </a:buClr>
              <a:buFont typeface="Wingdings" pitchFamily="2" charset="2"/>
              <a:buChar char="v"/>
            </a:pPr>
            <a:r>
              <a:rPr lang="ru-RU" dirty="0" smtClean="0"/>
              <a:t>Цель: обеспечить </a:t>
            </a:r>
            <a:r>
              <a:rPr lang="ru-RU" dirty="0"/>
              <a:t>согласованность и интеграцию СМИБ с другими системами менеджмента в компании. </a:t>
            </a:r>
          </a:p>
          <a:p>
            <a:pPr>
              <a:buClr>
                <a:srgbClr val="7030A0"/>
              </a:buClr>
              <a:buFont typeface="Wingdings" pitchFamily="2" charset="2"/>
              <a:buChar char="v"/>
            </a:pPr>
            <a:r>
              <a:rPr lang="ru-RU" dirty="0" smtClean="0"/>
              <a:t>описывает </a:t>
            </a:r>
            <a:r>
              <a:rPr lang="ru-RU" dirty="0"/>
              <a:t>СМИБ, как всеобъемлющую систему менеджмента, основанную на подходе бизнес-рисков, предназначенную для создания, внедрения, эксплуатации, мониторинга и поддержки </a:t>
            </a:r>
            <a:r>
              <a:rPr lang="ru-RU" dirty="0" smtClean="0"/>
              <a:t>СМИБ;</a:t>
            </a:r>
          </a:p>
          <a:p>
            <a:pPr>
              <a:buClr>
                <a:srgbClr val="7030A0"/>
              </a:buClr>
              <a:buFont typeface="Wingdings" pitchFamily="2" charset="2"/>
              <a:buChar char="v"/>
            </a:pPr>
            <a:r>
              <a:rPr lang="ru-RU" dirty="0" smtClean="0"/>
              <a:t>СМИБ </a:t>
            </a:r>
            <a:r>
              <a:rPr lang="ru-RU" dirty="0"/>
              <a:t>должна учитывать все аспекты организационной структуры, политики, планируемые действия, обязанности, практики, процедуры, процессы и ресурсы.</a:t>
            </a:r>
          </a:p>
        </p:txBody>
      </p:sp>
    </p:spTree>
    <p:extLst>
      <p:ext uri="{BB962C8B-B14F-4D97-AF65-F5344CB8AC3E}">
        <p14:creationId xmlns:p14="http://schemas.microsoft.com/office/powerpoint/2010/main" val="107244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Определения</a:t>
            </a:r>
          </a:p>
        </p:txBody>
      </p:sp>
      <p:sp>
        <p:nvSpPr>
          <p:cNvPr id="1666051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662417" cy="54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Управление</a:t>
            </a:r>
            <a:r>
              <a:rPr lang="ru-RU" sz="2400" dirty="0" smtClean="0"/>
              <a:t> – процесс целенаправленного воздействия управляющей подсистемы (субъекта управления) на управляемую подсистему (объект управления), обеспечивающий повышение ее организованности и достижение того или иного полезного эффекта.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Управление безопасностью </a:t>
            </a:r>
            <a:r>
              <a:rPr lang="ru-RU" sz="2400" dirty="0" smtClean="0"/>
              <a:t>– организованное воздействие на систему ИБ с целью достижения желаемого состояния защищённости ИС (АС)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Модель управления </a:t>
            </a:r>
            <a:r>
              <a:rPr lang="ru-RU" sz="2400" dirty="0" smtClean="0"/>
              <a:t>– теоретически выстроенная целостная совокупность представлений о принципах устройства </a:t>
            </a:r>
            <a:r>
              <a:rPr lang="ru-RU" sz="2400" dirty="0" smtClean="0">
                <a:solidFill>
                  <a:srgbClr val="FF0000"/>
                </a:solidFill>
              </a:rPr>
              <a:t>системы управления</a:t>
            </a:r>
            <a:r>
              <a:rPr lang="ru-RU" sz="2400" dirty="0" smtClean="0"/>
              <a:t>, ее воздействии на объект управления, адаптации к изменениям во внешней среде для достижения управляемым объектом поставленных целей, его развития и обеспечения работоспособности</a:t>
            </a:r>
          </a:p>
        </p:txBody>
      </p:sp>
    </p:spTree>
    <p:extLst>
      <p:ext uri="{BB962C8B-B14F-4D97-AF65-F5344CB8AC3E}">
        <p14:creationId xmlns:p14="http://schemas.microsoft.com/office/powerpoint/2010/main" val="107756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7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-99392"/>
            <a:ext cx="9144000" cy="1016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Определения</a:t>
            </a:r>
          </a:p>
        </p:txBody>
      </p:sp>
      <p:sp>
        <p:nvSpPr>
          <p:cNvPr id="178278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836712"/>
            <a:ext cx="8766051" cy="569108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Активы (ресурсы) </a:t>
            </a:r>
            <a:r>
              <a:rPr lang="ru-RU" sz="1600" dirty="0" smtClean="0"/>
              <a:t>– всё, что имеет ценность для организации: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Материальные (физические) активы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Информация (данные, контракты, документация)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Активы ПО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Способность производить продукт или предоставлять услугу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Служащие и их квалификация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Нематериальные ресурсы (престиж фирмы, репутация)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Событие ИБ </a:t>
            </a:r>
            <a:r>
              <a:rPr lang="ru-RU" sz="1600" dirty="0" smtClean="0"/>
              <a:t>– идентифицированное возникновение состояния системы, услуги или сети, указывающее на возможное нарушение политики ИБ, отказ защитных мер, а также возникновение ранее неизвестной ситуации, которая может быть связана с безопасностью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Инцидент информационной безопасности </a:t>
            </a:r>
            <a:r>
              <a:rPr lang="ru-RU" sz="1600" dirty="0" smtClean="0"/>
              <a:t>– любое непредвиденное или нежелательное событие, которое может нарушить деятельность или ИБ: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Утрата услуг, оборудования или устройств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Системные сбои или перегрузки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Ошибки пользователей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Несоблюдение политик или рекомендаций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Нарушение физических мер защиты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Неконтролируемые изменения систем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Сбои ПО и отказы технических средств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Arial" pitchFamily="34" charset="0"/>
              <a:buChar char="•"/>
              <a:defRPr/>
            </a:pPr>
            <a:r>
              <a:rPr lang="ru-RU" sz="1400" dirty="0" smtClean="0"/>
              <a:t>Нарушение правил доступа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Угроза</a:t>
            </a:r>
            <a:r>
              <a:rPr lang="ru-RU" sz="1600" dirty="0" smtClean="0"/>
              <a:t> – потенциальная причина инцидента, который может нанести ущерб системе или организации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1600" b="1" dirty="0" smtClean="0">
                <a:solidFill>
                  <a:srgbClr val="FF0000"/>
                </a:solidFill>
              </a:rPr>
              <a:t>Воздействие</a:t>
            </a:r>
            <a:r>
              <a:rPr lang="ru-RU" sz="1600" dirty="0" smtClean="0">
                <a:solidFill>
                  <a:srgbClr val="FF9900"/>
                </a:solidFill>
              </a:rPr>
              <a:t> </a:t>
            </a:r>
            <a:r>
              <a:rPr lang="ru-RU" sz="1600" dirty="0" smtClean="0"/>
              <a:t>– результат нежелательного инцидента информационной безопасности 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6196013" y="6440488"/>
            <a:ext cx="4778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fld id="{E56D9629-193E-4E4A-AF7C-11D95B5809C6}" type="slidenum">
              <a:rPr lang="ru-RU" sz="2000" b="1">
                <a:solidFill>
                  <a:schemeClr val="hlink"/>
                </a:solidFill>
              </a:rPr>
              <a:pPr algn="ctr" eaLnBrk="1" hangingPunct="1">
                <a:spcBef>
                  <a:spcPct val="50000"/>
                </a:spcBef>
              </a:pPr>
              <a:t>7</a:t>
            </a:fld>
            <a:endParaRPr lang="ru-RU" sz="2000" b="1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2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5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528" y="27856"/>
            <a:ext cx="8229600" cy="1077218"/>
          </a:xfrm>
        </p:spPr>
        <p:txBody>
          <a:bodyPr>
            <a:spAutoFit/>
          </a:bodyPr>
          <a:lstStyle/>
          <a:p>
            <a:pPr>
              <a:defRPr/>
            </a:pPr>
            <a:r>
              <a:rPr lang="ru-RU" b="0" dirty="0"/>
              <a:t>Цель и основные показатели качества управления</a:t>
            </a:r>
          </a:p>
        </p:txBody>
      </p:sp>
      <p:sp>
        <p:nvSpPr>
          <p:cNvPr id="1773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dirty="0" smtClean="0">
                <a:solidFill>
                  <a:srgbClr val="FF0000"/>
                </a:solidFill>
              </a:rPr>
              <a:t>Цель управления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ru-RU" dirty="0" smtClean="0"/>
              <a:t>обеспечение требуемого состояния объекта в смысле защищенности</a:t>
            </a:r>
          </a:p>
          <a:p>
            <a:pPr eaLnBrk="1" hangingPunct="1">
              <a:lnSpc>
                <a:spcPct val="9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dirty="0" smtClean="0">
                <a:solidFill>
                  <a:srgbClr val="FF0000"/>
                </a:solidFill>
              </a:rPr>
              <a:t>Основные показатели качества управления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ru-RU" dirty="0" smtClean="0"/>
              <a:t>минимум информационного ущерба и затрат на управление (защиту);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ru-RU" dirty="0" smtClean="0"/>
              <a:t>управляемость и наблюдаемость;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ru-RU" dirty="0" smtClean="0"/>
              <a:t>быстродействие и устойчивость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40867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520" y="0"/>
            <a:ext cx="8472487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Базовые принципы управления</a:t>
            </a:r>
          </a:p>
        </p:txBody>
      </p:sp>
      <p:sp>
        <p:nvSpPr>
          <p:cNvPr id="1772547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1328738"/>
            <a:ext cx="8758237" cy="51800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3300"/>
                </a:solidFill>
              </a:rPr>
              <a:t>Принцип разомкнутого управления</a:t>
            </a:r>
            <a:endParaRPr lang="ru-RU" sz="2400" dirty="0" smtClean="0"/>
          </a:p>
          <a:p>
            <a:pPr marL="457200" lvl="1" indent="0" eaLnBrk="1" hangingPunct="1">
              <a:lnSpc>
                <a:spcPct val="80000"/>
              </a:lnSpc>
              <a:buClr>
                <a:schemeClr val="accent6"/>
              </a:buClr>
              <a:buNone/>
              <a:defRPr/>
            </a:pPr>
            <a:r>
              <a:rPr lang="ru-RU" sz="2000" dirty="0" smtClean="0"/>
              <a:t>Заранее сформированные требования реализуются исполнительными органами СИБ, воздействуя на объект защиты. Достоинством является простота, а недостатком - низкая эффективность защиты, т.к. трудно заранее предугадать момент воздействия и вид угрозы; 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3300"/>
                </a:solidFill>
              </a:rPr>
              <a:t>Принцип компенсации</a:t>
            </a:r>
            <a:endParaRPr lang="ru-RU" sz="2400" dirty="0" smtClean="0"/>
          </a:p>
          <a:p>
            <a:pPr marL="457200" lvl="1" indent="0" eaLnBrk="1" hangingPunct="1">
              <a:lnSpc>
                <a:spcPct val="80000"/>
              </a:lnSpc>
              <a:buClr>
                <a:schemeClr val="accent6"/>
              </a:buClr>
              <a:buNone/>
              <a:defRPr/>
            </a:pPr>
            <a:r>
              <a:rPr lang="ru-RU" sz="2000" dirty="0" smtClean="0"/>
              <a:t>В контур управления оперативно вводится информация об обнаруженной угрозе, в результате чего исполнительные органы СИБ концентрируют свои усилия на локализации и противодействии конкретной угрозе. Достоинством является более высокая эффективность, а недостатками - трудность правильного обнаружения угрозы и невозможность устранения последствий внутренних угроз. 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3300"/>
                </a:solidFill>
              </a:rPr>
              <a:t>Принцип обратной связи</a:t>
            </a:r>
          </a:p>
          <a:p>
            <a:pPr marL="457200" lvl="1" indent="0" eaLnBrk="1" hangingPunct="1">
              <a:lnSpc>
                <a:spcPct val="80000"/>
              </a:lnSpc>
              <a:buClr>
                <a:schemeClr val="accent6"/>
              </a:buClr>
              <a:buNone/>
              <a:defRPr/>
            </a:pPr>
            <a:r>
              <a:rPr lang="ru-RU" sz="2000" dirty="0" smtClean="0"/>
              <a:t>Обнаруживается не сама угроза, а реакция системы на нее и степень нанесенного ущерба. Достоинством является конкретность и точность отработки последствий угроз (экономическая целесообразность), включая и внутренние. Недостатком является запаздывание (инерционность) принимаемых мер, т.к. обнаруживается не предполагаемая угроза, а уже реакция на нее. </a:t>
            </a:r>
          </a:p>
        </p:txBody>
      </p:sp>
    </p:spTree>
    <p:extLst>
      <p:ext uri="{BB962C8B-B14F-4D97-AF65-F5344CB8AC3E}">
        <p14:creationId xmlns:p14="http://schemas.microsoft.com/office/powerpoint/2010/main" val="405483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520" y="44624"/>
            <a:ext cx="8472487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0" dirty="0"/>
              <a:t>Основные принципы эффективного управления ИБ</a:t>
            </a:r>
          </a:p>
        </p:txBody>
      </p:sp>
      <p:sp>
        <p:nvSpPr>
          <p:cNvPr id="1741827" name="Rectangle 3"/>
          <p:cNvSpPr>
            <a:spLocks noGrp="1" noChangeArrowheads="1"/>
          </p:cNvSpPr>
          <p:nvPr>
            <p:ph idx="1"/>
          </p:nvPr>
        </p:nvSpPr>
        <p:spPr>
          <a:xfrm>
            <a:off x="179513" y="1124744"/>
            <a:ext cx="8793038" cy="5422106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Устойчивость управления </a:t>
            </a:r>
            <a:r>
              <a:rPr lang="ru-RU" sz="2400" dirty="0" smtClean="0"/>
              <a:t>– способность управлять ИБ с заданной эффективностью при активном вмешательстве нарушителя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Непрерывность управления </a:t>
            </a:r>
            <a:r>
              <a:rPr lang="ru-RU" sz="2400" dirty="0" smtClean="0"/>
              <a:t>– возможность постоянно воздействовать на процесс защиты информации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Скрытность управления </a:t>
            </a:r>
            <a:r>
              <a:rPr lang="ru-RU" sz="2400" dirty="0" smtClean="0"/>
              <a:t>– способность воспрепятствовать выявлению организации защиты информации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Оперативность управления </a:t>
            </a:r>
            <a:r>
              <a:rPr lang="ru-RU" sz="2400" dirty="0" smtClean="0"/>
              <a:t>– способность своевременно и адекватно реагировать на действия злоумышленников и реализовывать управленческие решения к заданному сроку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b="1" dirty="0" smtClean="0">
                <a:solidFill>
                  <a:srgbClr val="FF0000"/>
                </a:solidFill>
              </a:rPr>
              <a:t>Обоснованность управления </a:t>
            </a:r>
            <a:r>
              <a:rPr lang="ru-RU" sz="2400" dirty="0" smtClean="0"/>
              <a:t>– характеризуется всесторонним учетом условий решения задачи управления, применением различных моделей, расчетных и информационных задач, экспертных систем, опыта и любых других факторов, повышающих достоверность исходной информации и принимаемых решений по защите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73423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6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80975"/>
            <a:ext cx="8229600" cy="690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Модель управления ИБ</a:t>
            </a: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0" y="2019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553331"/>
              </p:ext>
            </p:extLst>
          </p:nvPr>
        </p:nvGraphicFramePr>
        <p:xfrm>
          <a:off x="107504" y="1196752"/>
          <a:ext cx="9144000" cy="464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Picture" r:id="rId4" imgW="5803921" imgH="2821054" progId="Word.Picture.8">
                  <p:embed/>
                </p:oleObj>
              </mc:Choice>
              <mc:Fallback>
                <p:oleObj name="Picture" r:id="rId4" imgW="5803921" imgH="2821054" progId="Word.Picture.8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196752"/>
                        <a:ext cx="9144000" cy="464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4419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5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80975"/>
            <a:ext cx="8229600" cy="690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Уровни управления ИБ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4" name="Object 7"/>
          <p:cNvGraphicFramePr>
            <a:graphicFrameLocks noChangeAspect="1"/>
          </p:cNvGraphicFramePr>
          <p:nvPr/>
        </p:nvGraphicFramePr>
        <p:xfrm>
          <a:off x="228600" y="1231900"/>
          <a:ext cx="8634413" cy="507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Рисунок" r:id="rId3" imgW="7526020" imgH="4439920" progId="Word.Picture.8">
                  <p:embed/>
                </p:oleObj>
              </mc:Choice>
              <mc:Fallback>
                <p:oleObj name="Рисунок" r:id="rId3" imgW="7526020" imgH="4439920" progId="Word.Picture.8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31900"/>
                        <a:ext cx="8634413" cy="5072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832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9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520" y="6896"/>
            <a:ext cx="8694738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0" dirty="0"/>
              <a:t>Что такое система управления информационной безопасностью (СУИБ)?</a:t>
            </a:r>
          </a:p>
        </p:txBody>
      </p:sp>
      <p:sp>
        <p:nvSpPr>
          <p:cNvPr id="1748995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340768"/>
            <a:ext cx="8856984" cy="33321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800" dirty="0" smtClean="0"/>
              <a:t>СУИБ — это «та часть общей системы управления организацией, основанной на </a:t>
            </a:r>
            <a:r>
              <a:rPr lang="ru-RU" sz="2800" b="1" dirty="0" smtClean="0">
                <a:solidFill>
                  <a:srgbClr val="FF0000"/>
                </a:solidFill>
              </a:rPr>
              <a:t>подходе бизнес-рисков</a:t>
            </a:r>
            <a:r>
              <a:rPr lang="ru-RU" sz="2800" dirty="0" smtClean="0"/>
              <a:t>, которая создает, реализует, эксплуатирует, осуществляет мониторинг, пересмотр, сопровождение и совершенствование информационной безопасности» (ISO 27001)</a:t>
            </a:r>
          </a:p>
          <a:p>
            <a:pPr eaLnBrk="1" hangingPunct="1">
              <a:lnSpc>
                <a:spcPct val="9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800" dirty="0" smtClean="0"/>
              <a:t>СУИБ включает в себя:</a:t>
            </a:r>
          </a:p>
        </p:txBody>
      </p:sp>
      <p:sp>
        <p:nvSpPr>
          <p:cNvPr id="1749001" name="Text Box 9"/>
          <p:cNvSpPr txBox="1">
            <a:spLocks noChangeArrowheads="1"/>
          </p:cNvSpPr>
          <p:nvPr/>
        </p:nvSpPr>
        <p:spPr bwMode="auto">
          <a:xfrm>
            <a:off x="395536" y="4749800"/>
            <a:ext cx="7164660" cy="149579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Организационную структуру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Политики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Планирование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Должностные обязанности</a:t>
            </a:r>
          </a:p>
        </p:txBody>
      </p:sp>
      <p:sp>
        <p:nvSpPr>
          <p:cNvPr id="1749002" name="Text Box 10"/>
          <p:cNvSpPr txBox="1">
            <a:spLocks noChangeArrowheads="1"/>
          </p:cNvSpPr>
          <p:nvPr/>
        </p:nvSpPr>
        <p:spPr bwMode="auto">
          <a:xfrm>
            <a:off x="5041900" y="4764088"/>
            <a:ext cx="3771900" cy="149579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Практики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Процедуры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Процессы 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accent6"/>
              </a:buClr>
              <a:buSzPct val="70000"/>
              <a:buFont typeface="Arial" pitchFamily="34" charset="0"/>
              <a:buChar char="•"/>
              <a:defRPr/>
            </a:pPr>
            <a:r>
              <a:rPr lang="ru-RU" sz="2400" dirty="0"/>
              <a:t>Ресурсы</a:t>
            </a:r>
          </a:p>
        </p:txBody>
      </p:sp>
    </p:spTree>
    <p:extLst>
      <p:ext uri="{BB962C8B-B14F-4D97-AF65-F5344CB8AC3E}">
        <p14:creationId xmlns:p14="http://schemas.microsoft.com/office/powerpoint/2010/main" val="337122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0"/>
            <a:ext cx="8820026" cy="971550"/>
          </a:xfrm>
        </p:spPr>
        <p:txBody>
          <a:bodyPr>
            <a:normAutofit/>
          </a:bodyPr>
          <a:lstStyle/>
          <a:p>
            <a:r>
              <a:rPr lang="ru-RU" b="0" dirty="0"/>
              <a:t>Место СУИБ в системе обеспечения ИБ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1924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02889"/>
              </p:ext>
            </p:extLst>
          </p:nvPr>
        </p:nvGraphicFramePr>
        <p:xfrm>
          <a:off x="0" y="1412776"/>
          <a:ext cx="9144000" cy="454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Visio" r:id="rId3" imgW="7115108" imgH="3528274" progId="">
                  <p:embed/>
                </p:oleObj>
              </mc:Choice>
              <mc:Fallback>
                <p:oleObj name="Visio" r:id="rId3" imgW="7115108" imgH="3528274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12776"/>
                        <a:ext cx="9144000" cy="454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656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0" y="2019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7"/>
          <p:cNvSpPr>
            <a:spLocks noChangeArrowheads="1"/>
          </p:cNvSpPr>
          <p:nvPr/>
        </p:nvSpPr>
        <p:spPr bwMode="auto">
          <a:xfrm>
            <a:off x="0" y="190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8"/>
          <p:cNvSpPr>
            <a:spLocks noChangeArrowheads="1"/>
          </p:cNvSpPr>
          <p:nvPr/>
        </p:nvSpPr>
        <p:spPr bwMode="auto">
          <a:xfrm>
            <a:off x="0" y="2147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11"/>
          <p:cNvSpPr>
            <a:spLocks noChangeArrowheads="1"/>
          </p:cNvSpPr>
          <p:nvPr/>
        </p:nvSpPr>
        <p:spPr bwMode="auto">
          <a:xfrm>
            <a:off x="0" y="1695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0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134233"/>
              </p:ext>
            </p:extLst>
          </p:nvPr>
        </p:nvGraphicFramePr>
        <p:xfrm>
          <a:off x="97631" y="404664"/>
          <a:ext cx="8948738" cy="57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Рисунок" r:id="rId3" imgW="8364220" imgH="5392420" progId="Word.Picture.8">
                  <p:embed/>
                </p:oleObj>
              </mc:Choice>
              <mc:Fallback>
                <p:oleObj name="Рисунок" r:id="rId3" imgW="8364220" imgH="5392420" progId="Word.Picture.8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" y="404664"/>
                        <a:ext cx="8948738" cy="577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83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7625" y="16421"/>
            <a:ext cx="91440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Обеспечение ИБ организации</a:t>
            </a:r>
          </a:p>
        </p:txBody>
      </p:sp>
      <p:sp>
        <p:nvSpPr>
          <p:cNvPr id="169574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766051" cy="5554439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Стратегия обеспечения ИБ организации заключается в развертывании, эксплуатации и совершенствовании СУИБ организации, включающей процессы управления ИБ и стимулируемой и управляемой процессами осознания ИБ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Деятельность СУИБ организации должна обеспечивать достижение целей деятельности организации в условиях: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ü"/>
              <a:defRPr/>
            </a:pPr>
            <a:r>
              <a:rPr lang="ru-RU" sz="2000" dirty="0" smtClean="0"/>
              <a:t>штатного функционирования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ü"/>
              <a:defRPr/>
            </a:pPr>
            <a:r>
              <a:rPr lang="ru-RU" sz="2000" dirty="0" smtClean="0"/>
              <a:t>возникновения локальных инцидентов и проблем ИБ</a:t>
            </a:r>
          </a:p>
          <a:p>
            <a:pPr lvl="1"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ü"/>
              <a:defRPr/>
            </a:pPr>
            <a:r>
              <a:rPr lang="ru-RU" sz="2000" dirty="0" smtClean="0"/>
              <a:t>возникновения широкомасштабных катастроф и аварий различной природы, последствия которых имеют или могут иметь отношение к ИБ организации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Управление ИБ – часть общего корпоративного менеджмента организации, ориентированной на достижение целей через обеспечение защищенности ее информационной сферы</a:t>
            </a:r>
          </a:p>
          <a:p>
            <a:pPr eaLnBrk="1" hangingPunct="1"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  <a:defRPr/>
            </a:pPr>
            <a:r>
              <a:rPr lang="ru-RU" sz="2400" dirty="0" smtClean="0"/>
              <a:t>Осознание ИБ обеспечивает основу эффективного функционирования СУИБ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321016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4139"/>
            <a:ext cx="8229600" cy="690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0" dirty="0"/>
              <a:t>Концептуальная схема УИБ</a:t>
            </a:r>
          </a:p>
        </p:txBody>
      </p:sp>
      <p:graphicFrame>
        <p:nvGraphicFramePr>
          <p:cNvPr id="5122" name="Object 42"/>
          <p:cNvGraphicFramePr>
            <a:graphicFrameLocks noGrp="1" noChangeAspect="1"/>
          </p:cNvGraphicFramePr>
          <p:nvPr>
            <p:ph idx="1"/>
          </p:nvPr>
        </p:nvGraphicFramePr>
        <p:xfrm>
          <a:off x="214313" y="881063"/>
          <a:ext cx="8909050" cy="580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Рисунок" r:id="rId3" imgW="9982327" imgH="6508824" progId="Word.Picture.8">
                  <p:embed/>
                </p:oleObj>
              </mc:Choice>
              <mc:Fallback>
                <p:oleObj name="Рисунок" r:id="rId3" imgW="9982327" imgH="6508824" progId="Word.Picture.8">
                  <p:embed/>
                  <p:pic>
                    <p:nvPicPr>
                      <p:cNvPr id="0" name="Picture 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881063"/>
                        <a:ext cx="8909050" cy="580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41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41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0" y="2019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0" y="190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auto">
          <a:xfrm>
            <a:off x="0" y="2147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auto">
          <a:xfrm>
            <a:off x="0" y="1695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0" y="1657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364073"/>
              </p:ext>
            </p:extLst>
          </p:nvPr>
        </p:nvGraphicFramePr>
        <p:xfrm>
          <a:off x="112712" y="548680"/>
          <a:ext cx="8918575" cy="537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Picture" r:id="rId3" imgW="9009529" imgH="5423647" progId="Word.Picture.8">
                  <p:embed/>
                </p:oleObj>
              </mc:Choice>
              <mc:Fallback>
                <p:oleObj name="Picture" r:id="rId3" imgW="9009529" imgH="5423647" progId="Word.Picture.8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" y="548680"/>
                        <a:ext cx="8918575" cy="537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645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7786688" cy="633412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Создание СУИБ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idx="1"/>
          </p:nvPr>
        </p:nvSpPr>
        <p:spPr>
          <a:xfrm>
            <a:off x="0" y="1124745"/>
            <a:ext cx="9144000" cy="547290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800" b="1" dirty="0" smtClean="0"/>
              <a:t>1. Организация </a:t>
            </a:r>
            <a:r>
              <a:rPr lang="ru-RU" sz="2800" b="1" dirty="0"/>
              <a:t>должна осуществить следующее</a:t>
            </a:r>
            <a:r>
              <a:rPr lang="ru-RU" sz="2800" dirty="0">
                <a:solidFill>
                  <a:srgbClr val="FF9900"/>
                </a:solidFill>
              </a:rPr>
              <a:t>: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1.1) определить область применения СУИБ на основе характеристик бизнеса, организации, ее расположения, активов и технологий, включая детали и обоснование любых исключений из области;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1.2) определить политику СУИБ на основе характеристик бизнеса, организации, ее расположения, активов и технологий;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1.3) определить подход к оценке риска в организации;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1.4) идентифицировать риски;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1.5) проанализировать и оценить риски;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1.6) определить и оценить различные варианты обработки рисков;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1.7) выбрать цели и меры (средства) контроля для обработки рисков.</a:t>
            </a:r>
          </a:p>
        </p:txBody>
      </p:sp>
    </p:spTree>
    <p:extLst>
      <p:ext uri="{BB962C8B-B14F-4D97-AF65-F5344CB8AC3E}">
        <p14:creationId xmlns:p14="http://schemas.microsoft.com/office/powerpoint/2010/main" val="28214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Реализация и эксплуатация СУИБ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idx="1"/>
          </p:nvPr>
        </p:nvSpPr>
        <p:spPr>
          <a:xfrm>
            <a:off x="35496" y="1052737"/>
            <a:ext cx="9108504" cy="540045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400" b="1" dirty="0" smtClean="0"/>
              <a:t>2. Организация </a:t>
            </a:r>
            <a:r>
              <a:rPr lang="ru-RU" sz="2400" b="1" dirty="0"/>
              <a:t>должна выполнить следующее</a:t>
            </a:r>
            <a:r>
              <a:rPr lang="ru-RU" sz="2400" dirty="0"/>
              <a:t>: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2.1) разработать план обработки риска, определяющий соответствующие действия руководства, ресурсы, обязанности и приоритеты в отношении управления рисками ИБ;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2.2) реализовать план обработки риска для достижения намеченных целей контроля, включающий вопросы финансирования, а также распределение ролей и обязанностей;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2.3) реализовать меры (средства) контроля, выбранные в (1.7), для достижения целей контроля;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2.4) определить, как измерять эффективность выбранных мер (средств) контроля или их групп и как использовать эти измерения для оценки эффективности контроля, чтобы получить сравнимые и воспроизводимые результаты (см. 3.3);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2.5) реализовать программы по обучению и повышению компетентности сотрудников;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2.6) управлять работой СУИБ;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2.7) управлять ресурсами СУИБ;</a:t>
            </a:r>
          </a:p>
          <a:p>
            <a:pPr marL="874713" lvl="1" indent="-417513">
              <a:lnSpc>
                <a:spcPct val="70000"/>
              </a:lnSpc>
              <a:buFontTx/>
              <a:buNone/>
            </a:pPr>
            <a:r>
              <a:rPr lang="ru-RU" sz="2000" dirty="0"/>
              <a:t>2.8) реализовать процедуры и другие меры контроля, обеспечивающие оперативное обнаружение и реагирование</a:t>
            </a:r>
            <a:r>
              <a:rPr lang="ru-RU" sz="2000" b="1" dirty="0"/>
              <a:t> на инциденты, связанные с безопасностью (см. 3.1).</a:t>
            </a:r>
          </a:p>
        </p:txBody>
      </p:sp>
    </p:spTree>
    <p:extLst>
      <p:ext uri="{BB962C8B-B14F-4D97-AF65-F5344CB8AC3E}">
        <p14:creationId xmlns:p14="http://schemas.microsoft.com/office/powerpoint/2010/main" val="312847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675687" cy="119697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Проведение мониторинга и анализа СУИБ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idx="1"/>
          </p:nvPr>
        </p:nvSpPr>
        <p:spPr>
          <a:xfrm>
            <a:off x="0" y="1196975"/>
            <a:ext cx="9144000" cy="55038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400" b="1" dirty="0" smtClean="0"/>
              <a:t>3. Организация </a:t>
            </a:r>
            <a:r>
              <a:rPr lang="ru-RU" sz="2400" b="1" dirty="0"/>
              <a:t>должна осуществлять следующее: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3.1) выполнять процедуры мониторинга и контрольного анализа, а также использовать другие меры контроля;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3.2) проводить регулярный анализ эффективности СУИБ (включая проверку ее соответствия политике и целям СУИБ и анализ мер контроля безопасности) с учетом результатов аудиторских проверок безопасности, инцидентов, измерений эффективности, а также предложений и пожеланий всех заинтересованных сторон;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3.3) измерять эффективность средств контроля для проверки удовлетворения требований безопасности;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3.4) пересматривать оценки рисков через запланированные промежутки времени и анализировать уровень остаточного и приемлемого риска;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3.5) проводить внутренние аудиторские проверки СУИБ через запланированные интервалы времени;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3.6) проводить на регулярной основе анализ СУИБ со стороны руководства для подтверждения адекватности области применения СУИБ и для выявления направлений совершенствования СУИБ;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3.7) обновлять планы безопасности с учетом результатов анализа и мониторинга;</a:t>
            </a:r>
          </a:p>
          <a:p>
            <a:pPr marL="874713" lvl="1" indent="-417513">
              <a:lnSpc>
                <a:spcPct val="80000"/>
              </a:lnSpc>
              <a:buFontTx/>
              <a:buNone/>
            </a:pPr>
            <a:r>
              <a:rPr lang="ru-RU" sz="1800" dirty="0"/>
              <a:t>3.8) регистрировать действия и события, которые могли бы оказать воздействие на эффективность или работу СУИБ.</a:t>
            </a:r>
          </a:p>
        </p:txBody>
      </p:sp>
    </p:spTree>
    <p:extLst>
      <p:ext uri="{BB962C8B-B14F-4D97-AF65-F5344CB8AC3E}">
        <p14:creationId xmlns:p14="http://schemas.microsoft.com/office/powerpoint/2010/main" val="363335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785671" cy="11430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Поддержка и совершенствование СУИБ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idx="1"/>
          </p:nvPr>
        </p:nvSpPr>
        <p:spPr>
          <a:xfrm>
            <a:off x="0" y="1341438"/>
            <a:ext cx="8850313" cy="52244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800" b="1" dirty="0" smtClean="0"/>
              <a:t>4. Организация </a:t>
            </a:r>
            <a:r>
              <a:rPr lang="ru-RU" sz="2800" b="1" dirty="0"/>
              <a:t>должна регулярно осуществлять следующее: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4.1) реализовывать выявленные возможности совершенствования СУИБ;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4.2) предпринимать необходимые корректирующие и превентивные действия. Применять на практике опыт в области безопасности, полученный как в собственной организации, так и в других организациях;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4.3) обмениваться информацией о результатах и проведенных мероприятиях со всеми заинтересованными сторонами со степенью детализации, соответствующей обстоятельствам, и, если нужно, согласовать дальнейшие действия;</a:t>
            </a:r>
          </a:p>
          <a:p>
            <a:pPr marL="965200" lvl="1" indent="-508000">
              <a:lnSpc>
                <a:spcPct val="80000"/>
              </a:lnSpc>
              <a:buFontTx/>
              <a:buNone/>
            </a:pPr>
            <a:r>
              <a:rPr lang="ru-RU" sz="2400" dirty="0"/>
              <a:t>4.4) обеспечивать, чтобы внедряемые усовершенствования достигали ожидаемых целей.</a:t>
            </a:r>
          </a:p>
        </p:txBody>
      </p:sp>
    </p:spTree>
    <p:extLst>
      <p:ext uri="{BB962C8B-B14F-4D97-AF65-F5344CB8AC3E}">
        <p14:creationId xmlns:p14="http://schemas.microsoft.com/office/powerpoint/2010/main" val="88318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052513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Стадии внедрения СУИБ</a:t>
            </a:r>
          </a:p>
        </p:txBody>
      </p:sp>
      <p:sp>
        <p:nvSpPr>
          <p:cNvPr id="44039" name="Rectangle 7"/>
          <p:cNvSpPr>
            <a:spLocks noGrp="1" noChangeArrowheads="1"/>
          </p:cNvSpPr>
          <p:nvPr>
            <p:ph idx="1"/>
          </p:nvPr>
        </p:nvSpPr>
        <p:spPr>
          <a:xfrm>
            <a:off x="522288" y="1538288"/>
            <a:ext cx="7551737" cy="3868737"/>
          </a:xfrm>
          <a:noFill/>
          <a:ln/>
        </p:spPr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Определение области внедрения</a:t>
            </a:r>
            <a:r>
              <a:rPr lang="en-US" sz="2400" dirty="0"/>
              <a:t> 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Идентификация активов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Определение ценности активов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Определение рисков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Определение политики и уровня обеспечения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Идентификация целей и средств контроля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Определение политик, стандартов и процедур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Разработка и внедрение СУИБ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Завершение разработки документации </a:t>
            </a:r>
            <a:r>
              <a:rPr lang="ru-RU" sz="2400" dirty="0" smtClean="0"/>
              <a:t>СУИБ</a:t>
            </a:r>
            <a:endParaRPr lang="ru-RU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400" dirty="0"/>
              <a:t>Аудит и оценка СУИБ</a:t>
            </a:r>
          </a:p>
        </p:txBody>
      </p:sp>
    </p:spTree>
    <p:extLst>
      <p:ext uri="{BB962C8B-B14F-4D97-AF65-F5344CB8AC3E}">
        <p14:creationId xmlns:p14="http://schemas.microsoft.com/office/powerpoint/2010/main" val="390801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15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altLang="zh-CN" b="0" dirty="0" smtClean="0"/>
              <a:t>Процессный подход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>
          <a:xfrm>
            <a:off x="0" y="981075"/>
            <a:ext cx="9144000" cy="5145088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ru-RU" sz="2000" dirty="0" smtClean="0"/>
              <a:t>	</a:t>
            </a:r>
            <a:r>
              <a:rPr lang="ru-RU" sz="2500" dirty="0" smtClean="0"/>
              <a:t>Это применение системы процессов в рамках организации, вместе с идентификацией и взаимодействием этих процессов, а также их управлением.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500" dirty="0" smtClean="0"/>
              <a:t>	Процессный подход помогает пользователям подчеркнуть важность следующего: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500" dirty="0" smtClean="0"/>
              <a:t>понимание требований ЗИ и потребности установить политику и цели для ЗИ организации;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500" dirty="0" smtClean="0"/>
              <a:t>средства реализации и управления для менеджмента рисками организации, связанными с ЗИ, в контексте общих деловых рисков организации;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500" dirty="0" smtClean="0"/>
              <a:t>постоянный контроль и анализ качества исполнения и результативности СМЗИ;</a:t>
            </a:r>
          </a:p>
          <a:p>
            <a:pPr>
              <a:lnSpc>
                <a:spcPct val="80000"/>
              </a:lnSpc>
              <a:buClr>
                <a:schemeClr val="accent6"/>
              </a:buClr>
              <a:buFont typeface="Wingdings" pitchFamily="2" charset="2"/>
              <a:buChar char="v"/>
            </a:pPr>
            <a:r>
              <a:rPr lang="ru-RU" sz="2500" dirty="0" smtClean="0"/>
              <a:t>непрерывное улучшение, основанное на объективном измерении.</a:t>
            </a:r>
          </a:p>
        </p:txBody>
      </p:sp>
    </p:spTree>
    <p:extLst>
      <p:ext uri="{BB962C8B-B14F-4D97-AF65-F5344CB8AC3E}">
        <p14:creationId xmlns:p14="http://schemas.microsoft.com/office/powerpoint/2010/main" val="402901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altLang="zh-CN" b="0" dirty="0" smtClean="0"/>
              <a:t>Модель PDCA, примененная к процессам СМЗИ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9144000" cy="5073650"/>
          </a:xfrm>
        </p:spPr>
        <p:txBody>
          <a:bodyPr/>
          <a:lstStyle/>
          <a:p>
            <a:pPr algn="ctr">
              <a:buFontTx/>
              <a:buNone/>
            </a:pPr>
            <a:r>
              <a:rPr lang="ru-RU" altLang="zh-CN" sz="2400" smtClean="0">
                <a:solidFill>
                  <a:srgbClr val="FF5050"/>
                </a:solidFill>
              </a:rPr>
              <a:t>Модель «Планируй</a:t>
            </a:r>
            <a:r>
              <a:rPr lang="en-US" altLang="zh-CN" sz="2400" smtClean="0">
                <a:solidFill>
                  <a:srgbClr val="FF5050"/>
                </a:solidFill>
                <a:ea typeface="宋体" charset="-122"/>
              </a:rPr>
              <a:t> – </a:t>
            </a:r>
            <a:r>
              <a:rPr lang="ru-RU" altLang="zh-CN" sz="2400" smtClean="0">
                <a:solidFill>
                  <a:srgbClr val="FF5050"/>
                </a:solidFill>
              </a:rPr>
              <a:t>Делай</a:t>
            </a:r>
            <a:r>
              <a:rPr lang="en-US" altLang="zh-CN" sz="2400" smtClean="0">
                <a:solidFill>
                  <a:srgbClr val="FF5050"/>
                </a:solidFill>
                <a:ea typeface="宋体" charset="-122"/>
              </a:rPr>
              <a:t> - </a:t>
            </a:r>
            <a:r>
              <a:rPr lang="ru-RU" altLang="zh-CN" sz="2400" smtClean="0">
                <a:solidFill>
                  <a:srgbClr val="FF5050"/>
                </a:solidFill>
              </a:rPr>
              <a:t>Проверяй</a:t>
            </a:r>
            <a:r>
              <a:rPr lang="en-US" altLang="zh-CN" sz="2400" smtClean="0">
                <a:solidFill>
                  <a:srgbClr val="FF5050"/>
                </a:solidFill>
                <a:ea typeface="宋体" charset="-122"/>
              </a:rPr>
              <a:t> </a:t>
            </a:r>
            <a:r>
              <a:rPr lang="ru-RU" altLang="zh-CN" sz="2400" smtClean="0">
                <a:solidFill>
                  <a:srgbClr val="FF5050"/>
                </a:solidFill>
              </a:rPr>
              <a:t>-</a:t>
            </a:r>
            <a:r>
              <a:rPr lang="en-US" altLang="zh-CN" sz="2400" smtClean="0">
                <a:solidFill>
                  <a:srgbClr val="FF5050"/>
                </a:solidFill>
                <a:ea typeface="宋体" charset="-122"/>
              </a:rPr>
              <a:t> </a:t>
            </a:r>
            <a:r>
              <a:rPr lang="ru-RU" altLang="zh-CN" sz="2400" smtClean="0">
                <a:solidFill>
                  <a:srgbClr val="FF5050"/>
                </a:solidFill>
              </a:rPr>
              <a:t>Действуй» (ПДПД)</a:t>
            </a:r>
            <a:r>
              <a:rPr lang="ru-RU" altLang="zh-CN" smtClean="0"/>
              <a:t> </a:t>
            </a:r>
          </a:p>
          <a:p>
            <a:pPr algn="ctr">
              <a:buFontTx/>
              <a:buNone/>
            </a:pPr>
            <a:r>
              <a:rPr lang="ru-RU" altLang="zh-CN" sz="2000" smtClean="0">
                <a:solidFill>
                  <a:srgbClr val="FF5050"/>
                </a:solidFill>
              </a:rPr>
              <a:t>(планирование </a:t>
            </a:r>
            <a:r>
              <a:rPr lang="en-US" altLang="zh-CN" sz="2000" smtClean="0">
                <a:solidFill>
                  <a:srgbClr val="FF5050"/>
                </a:solidFill>
                <a:ea typeface="宋体" charset="-122"/>
              </a:rPr>
              <a:t>- </a:t>
            </a:r>
            <a:r>
              <a:rPr lang="ru-RU" altLang="zh-CN" sz="2000" smtClean="0">
                <a:solidFill>
                  <a:srgbClr val="FF5050"/>
                </a:solidFill>
              </a:rPr>
              <a:t>осуществление </a:t>
            </a:r>
            <a:r>
              <a:rPr lang="en-US" altLang="zh-CN" sz="2000" smtClean="0">
                <a:solidFill>
                  <a:srgbClr val="FF5050"/>
                </a:solidFill>
                <a:ea typeface="宋体" charset="-122"/>
              </a:rPr>
              <a:t>- </a:t>
            </a:r>
            <a:r>
              <a:rPr lang="ru-RU" altLang="zh-CN" sz="2000" smtClean="0">
                <a:solidFill>
                  <a:srgbClr val="FF5050"/>
                </a:solidFill>
              </a:rPr>
              <a:t>проверка </a:t>
            </a:r>
            <a:r>
              <a:rPr lang="en-US" altLang="zh-CN" sz="2000" smtClean="0">
                <a:solidFill>
                  <a:srgbClr val="FF5050"/>
                </a:solidFill>
                <a:ea typeface="宋体" charset="-122"/>
              </a:rPr>
              <a:t>- </a:t>
            </a:r>
            <a:r>
              <a:rPr lang="ru-RU" altLang="zh-CN" sz="2000" smtClean="0">
                <a:solidFill>
                  <a:srgbClr val="FF5050"/>
                </a:solidFill>
              </a:rPr>
              <a:t>действие)</a:t>
            </a:r>
          </a:p>
          <a:p>
            <a:pPr>
              <a:buFontTx/>
              <a:buNone/>
            </a:pPr>
            <a:endParaRPr lang="ru-RU" sz="2000" smtClean="0">
              <a:solidFill>
                <a:srgbClr val="FF5050"/>
              </a:solidFill>
            </a:endParaRPr>
          </a:p>
        </p:txBody>
      </p:sp>
      <p:pic>
        <p:nvPicPr>
          <p:cNvPr id="4495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60575"/>
            <a:ext cx="9144000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027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6197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altLang="zh-CN" b="0" dirty="0" smtClean="0"/>
              <a:t>Правила ПДПД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idx="1"/>
          </p:nvPr>
        </p:nvSpPr>
        <p:spPr>
          <a:xfrm>
            <a:off x="0" y="981075"/>
            <a:ext cx="9144000" cy="51450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b="1" dirty="0" smtClean="0">
                <a:latin typeface="Arial-BoldMT" charset="-52"/>
              </a:rPr>
              <a:t>Планирование (создайте СМЗИ)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dirty="0" smtClean="0">
                <a:latin typeface="ArialMT" charset="-52"/>
              </a:rPr>
              <a:t>Установите политику, цели, процессы и процедуры, относящиеся к менеджменту рисков и улучшению ЗИ для выдачи результатов в соответствии с общей политикой и целями организации.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b="1" dirty="0" smtClean="0">
                <a:latin typeface="Arial-BoldMT" charset="-52"/>
              </a:rPr>
              <a:t>Осуществление (внедрите и эксплуатируйте СМЗИ)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dirty="0" smtClean="0">
                <a:latin typeface="ArialMT" charset="-52"/>
              </a:rPr>
              <a:t>Реализуйте и эксплуатируйте политику, средства управления, процессы и процедуры в области СМЗИ;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b="1" dirty="0" smtClean="0">
                <a:latin typeface="Arial-BoldMT" charset="-52"/>
              </a:rPr>
              <a:t>Действие (постоянно контролируйте и анализируйте СМЗИ)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dirty="0" smtClean="0">
                <a:latin typeface="ArialMT" charset="-52"/>
              </a:rPr>
              <a:t>Оценивайте и, где применимо, измеряйте показатели процессов по отношению к политике, целям и практическому опыту в области СМЗИ, доложите результаты руководству для анализа.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b="1" dirty="0" smtClean="0">
                <a:latin typeface="Arial-BoldMT" charset="-52"/>
              </a:rPr>
              <a:t>Проверка (поддерживайте в рабочем состоянии и улучшайте СМЗИ)</a:t>
            </a: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ru-RU" sz="2200" dirty="0" smtClean="0">
                <a:latin typeface="ArialMT" charset="-52"/>
              </a:rPr>
              <a:t>Осуществляйте корректирующие и предупреждающие действия, основанные на результатах внутреннего аудита СМЗИ и анализа со стороны руководства, или на другой значимой информации для того, чтобы достичь постоянного улучшения СМЗИ.</a:t>
            </a:r>
          </a:p>
        </p:txBody>
      </p:sp>
    </p:spTree>
    <p:extLst>
      <p:ext uri="{BB962C8B-B14F-4D97-AF65-F5344CB8AC3E}">
        <p14:creationId xmlns:p14="http://schemas.microsoft.com/office/powerpoint/2010/main" val="426402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263525"/>
            <a:ext cx="7240588" cy="788988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ru-RU" b="0" dirty="0"/>
              <a:t>Анализ процесса Внедрения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93675" y="1677988"/>
            <a:ext cx="241935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Потребности Заказчика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563938" y="1679575"/>
            <a:ext cx="1163637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Решение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5648325" y="1677988"/>
            <a:ext cx="288290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Область Деятельности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193675" y="2187575"/>
            <a:ext cx="636270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Определение ключевых и сопутствующих процессов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92088" y="2646363"/>
            <a:ext cx="7959725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Выявить и определить ценность активов (в контексте их использования)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4995863" y="4062413"/>
            <a:ext cx="2871787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Анализ несоответствий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193675" y="3108325"/>
            <a:ext cx="831215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Угрозы 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&gt;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 Уязвимости 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&gt;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 Вероятности 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&gt;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 Воздействия 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&gt;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 Восстановление 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&gt;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 Риски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179388" y="3573463"/>
            <a:ext cx="823595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Обеспечения приемлемого уровня риска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192088" y="4060825"/>
            <a:ext cx="4645025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Выбор защитных мер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187325" y="5213350"/>
            <a:ext cx="828040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Разработка Положения о Применимых МЗ (</a:t>
            </a:r>
            <a:r>
              <a:rPr lang="en-US" sz="1600" b="1">
                <a:solidFill>
                  <a:schemeClr val="tx1"/>
                </a:solidFill>
                <a:latin typeface="Garamond" pitchFamily="18" charset="0"/>
              </a:rPr>
              <a:t>SoA</a:t>
            </a:r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)</a:t>
            </a: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190500" y="5767388"/>
            <a:ext cx="823595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Внедрение физических, технических, процедурных мер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198438" y="6327775"/>
            <a:ext cx="204470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Аудит и Оценка</a:t>
            </a: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3124200" y="6329363"/>
            <a:ext cx="3409950" cy="3492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Возможности для улучшения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193675" y="4522788"/>
            <a:ext cx="6318250" cy="5937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Определение методов внедрения каждого МЗ</a:t>
            </a:r>
          </a:p>
          <a:p>
            <a:pPr algn="ctr"/>
            <a:r>
              <a:rPr lang="ru-RU" sz="1600" b="1">
                <a:solidFill>
                  <a:schemeClr val="tx1"/>
                </a:solidFill>
                <a:latin typeface="Garamond" pitchFamily="18" charset="0"/>
              </a:rPr>
              <a:t>(если не имеется удовлетворяющего решения)</a:t>
            </a:r>
          </a:p>
        </p:txBody>
      </p:sp>
      <p:sp>
        <p:nvSpPr>
          <p:cNvPr id="28689" name="AutoShape 17"/>
          <p:cNvSpPr>
            <a:spLocks noChangeArrowheads="1"/>
          </p:cNvSpPr>
          <p:nvPr/>
        </p:nvSpPr>
        <p:spPr bwMode="auto">
          <a:xfrm>
            <a:off x="2787650" y="1773238"/>
            <a:ext cx="595313" cy="111125"/>
          </a:xfrm>
          <a:prstGeom prst="rightArrow">
            <a:avLst>
              <a:gd name="adj1" fmla="val 50000"/>
              <a:gd name="adj2" fmla="val 133929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90" name="AutoShape 18"/>
          <p:cNvSpPr>
            <a:spLocks noChangeArrowheads="1"/>
          </p:cNvSpPr>
          <p:nvPr/>
        </p:nvSpPr>
        <p:spPr bwMode="auto">
          <a:xfrm>
            <a:off x="4919663" y="1779588"/>
            <a:ext cx="508000" cy="111125"/>
          </a:xfrm>
          <a:prstGeom prst="rightArrow">
            <a:avLst>
              <a:gd name="adj1" fmla="val 50000"/>
              <a:gd name="adj2" fmla="val 114286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28691" name="AutoShape 19"/>
          <p:cNvSpPr>
            <a:spLocks noChangeArrowheads="1"/>
          </p:cNvSpPr>
          <p:nvPr/>
        </p:nvSpPr>
        <p:spPr bwMode="auto">
          <a:xfrm>
            <a:off x="2447925" y="6467475"/>
            <a:ext cx="508000" cy="111125"/>
          </a:xfrm>
          <a:prstGeom prst="rightArrow">
            <a:avLst>
              <a:gd name="adj1" fmla="val 50000"/>
              <a:gd name="adj2" fmla="val 114286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3494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2952" y="116632"/>
            <a:ext cx="8961700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8884" y="620688"/>
            <a:ext cx="7101527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/>
              <a:t>Оглавление</a:t>
            </a:r>
            <a:endParaRPr lang="ru-RU" b="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8"/>
            <a:ext cx="8435280" cy="5145435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ru-RU" b="1" dirty="0" smtClean="0"/>
              <a:t>Предисловие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Введение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1 Область применения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2 Нормативные ссылки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3 Термины и определения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4 Контекст деятельности организации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5 Руководство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6 Планирование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7 Обеспечение и поддержка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8 Функционирование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9 Оценивание исполнения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10 Улучшение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Приложение А (обязательное). Меры обеспечения информационной безопасности и цели их применения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Приложение ДА (справочное). Сведения о соответствии ссылочных международных стандартов национальным стандартам</a:t>
            </a:r>
            <a:endParaRPr lang="ru-RU" dirty="0" smtClean="0"/>
          </a:p>
          <a:p>
            <a:pPr marL="0" indent="0" fontAlgn="base">
              <a:buNone/>
            </a:pPr>
            <a:r>
              <a:rPr lang="ru-RU" b="1" dirty="0" smtClean="0"/>
              <a:t>Библиография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 презентации_действующи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Специальное оформление">
  <a:themeElements>
    <a:clrScheme name="Экспо">
      <a:dk1>
        <a:sysClr val="windowText" lastClr="000000"/>
      </a:dk1>
      <a:lt1>
        <a:sysClr val="window" lastClr="FFFFFF"/>
      </a:lt1>
      <a:dk2>
        <a:srgbClr val="263B86"/>
      </a:dk2>
      <a:lt2>
        <a:srgbClr val="76B6F2"/>
      </a:lt2>
      <a:accent1>
        <a:srgbClr val="FBC01E"/>
      </a:accent1>
      <a:accent2>
        <a:srgbClr val="EFE1A2"/>
      </a:accent2>
      <a:accent3>
        <a:srgbClr val="FA8716"/>
      </a:accent3>
      <a:accent4>
        <a:srgbClr val="BE0204"/>
      </a:accent4>
      <a:accent5>
        <a:srgbClr val="640F10"/>
      </a:accent5>
      <a:accent6>
        <a:srgbClr val="7E13E3"/>
      </a:accent6>
      <a:hlink>
        <a:srgbClr val="D2D200"/>
      </a:hlink>
      <a:folHlink>
        <a:srgbClr val="D0B9F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презентации_действующий</Template>
  <TotalTime>3857</TotalTime>
  <Words>1979</Words>
  <Application>Microsoft Office PowerPoint</Application>
  <PresentationFormat>Экран (4:3)</PresentationFormat>
  <Paragraphs>195</Paragraphs>
  <Slides>30</Slides>
  <Notes>3</Notes>
  <HiddenSlides>1</HiddenSlides>
  <MMClips>0</MMClips>
  <ScaleCrop>false</ScaleCrop>
  <HeadingPairs>
    <vt:vector size="8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30</vt:i4>
      </vt:variant>
    </vt:vector>
  </HeadingPairs>
  <TitlesOfParts>
    <vt:vector size="49" baseType="lpstr">
      <vt:lpstr>宋体</vt:lpstr>
      <vt:lpstr>Arial</vt:lpstr>
      <vt:lpstr>Arial Unicode MS</vt:lpstr>
      <vt:lpstr>Arial-BoldMT</vt:lpstr>
      <vt:lpstr>ArialMT</vt:lpstr>
      <vt:lpstr>Calibri</vt:lpstr>
      <vt:lpstr>方正姚体</vt:lpstr>
      <vt:lpstr>Garamond</vt:lpstr>
      <vt:lpstr>华文新魏</vt:lpstr>
      <vt:lpstr>Times New Roman</vt:lpstr>
      <vt:lpstr>Trebuchet MS</vt:lpstr>
      <vt:lpstr>Wingdings</vt:lpstr>
      <vt:lpstr>Wingdings 3</vt:lpstr>
      <vt:lpstr>Шаблон презентации_действующий</vt:lpstr>
      <vt:lpstr>2_Специальное оформление</vt:lpstr>
      <vt:lpstr>Аспект</vt:lpstr>
      <vt:lpstr>Picture</vt:lpstr>
      <vt:lpstr>Рисунок</vt:lpstr>
      <vt:lpstr>Visio</vt:lpstr>
      <vt:lpstr>ISO/IEC 27001:2021 Информационные технологии.  Методы обеспечения безопасности. Системы управления информационной безопасностью.  Требования (BS 7799-2:2005).</vt:lpstr>
      <vt:lpstr>Презентация PowerPoint</vt:lpstr>
      <vt:lpstr>Презентация PowerPoint</vt:lpstr>
      <vt:lpstr>ISO/IEC IS 27001:2021</vt:lpstr>
      <vt:lpstr>ISO/IEC IS 27001. Введение</vt:lpstr>
      <vt:lpstr>Определения</vt:lpstr>
      <vt:lpstr>Определения</vt:lpstr>
      <vt:lpstr>Цель и основные показатели качества управления</vt:lpstr>
      <vt:lpstr>Базовые принципы управления</vt:lpstr>
      <vt:lpstr>Основные принципы эффективного управления ИБ</vt:lpstr>
      <vt:lpstr>Модель управления ИБ</vt:lpstr>
      <vt:lpstr>Уровни управления ИБ</vt:lpstr>
      <vt:lpstr>Что такое система управления информационной безопасностью (СУИБ)?</vt:lpstr>
      <vt:lpstr>Место СУИБ в системе обеспечения ИБ</vt:lpstr>
      <vt:lpstr>Презентация PowerPoint</vt:lpstr>
      <vt:lpstr>Обеспечение ИБ организации</vt:lpstr>
      <vt:lpstr>Концептуальная схема УИБ</vt:lpstr>
      <vt:lpstr>Презентация PowerPoint</vt:lpstr>
      <vt:lpstr>Создание СУИБ</vt:lpstr>
      <vt:lpstr>Реализация и эксплуатация СУИБ</vt:lpstr>
      <vt:lpstr>Проведение мониторинга и анализа СУИБ</vt:lpstr>
      <vt:lpstr>Поддержка и совершенствование СУИБ</vt:lpstr>
      <vt:lpstr>Стадии внедрения СУИБ</vt:lpstr>
      <vt:lpstr>Процессный подход</vt:lpstr>
      <vt:lpstr>Модель PDCA, примененная к процессам СМЗИ</vt:lpstr>
      <vt:lpstr>Правила ПДПД</vt:lpstr>
      <vt:lpstr>Анализ процесса Внедрения</vt:lpstr>
      <vt:lpstr>Презентация PowerPoint</vt:lpstr>
      <vt:lpstr>Презентация PowerPoint</vt:lpstr>
      <vt:lpstr>Оглавление</vt:lpstr>
    </vt:vector>
  </TitlesOfParts>
  <Company>УЦ Информзащита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v.bondarev</dc:creator>
  <cp:lastModifiedBy>Bondarev Valery</cp:lastModifiedBy>
  <cp:revision>64</cp:revision>
  <dcterms:created xsi:type="dcterms:W3CDTF">2011-06-07T06:46:29Z</dcterms:created>
  <dcterms:modified xsi:type="dcterms:W3CDTF">2023-09-08T06:43:08Z</dcterms:modified>
</cp:coreProperties>
</file>